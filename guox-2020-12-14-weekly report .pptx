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68" r:id="rId4"/>
    <p:sldId id="269" r:id="rId5"/>
    <p:sldId id="270" r:id="rId6"/>
    <p:sldId id="271" r:id="rId7"/>
    <p:sldId id="272" r:id="rId8"/>
    <p:sldId id="275" r:id="rId9"/>
    <p:sldId id="276" r:id="rId10"/>
    <p:sldId id="277" r:id="rId11"/>
    <p:sldId id="278" r:id="rId12"/>
    <p:sldId id="279" r:id="rId13"/>
    <p:sldId id="27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5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F9E21-038D-4013-9725-AD10128F74EA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08E0D-F6F9-48F3-B41E-BF127D3599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29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08E0D-F6F9-48F3-B41E-BF127D35995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435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47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39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45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34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0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72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64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3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318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8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F270B-D3A0-4F88-AAD9-CA2399688AF9}" type="datetimeFigureOut">
              <a:rPr lang="zh-CN" altLang="en-US" smtClean="0"/>
              <a:t>2020/12/14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536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/>
              <a:t>Weekly Report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mtClean="0"/>
              <a:t>guoxin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25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工作汇报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针对新框架代码进行</a:t>
            </a:r>
            <a:r>
              <a:rPr lang="en-US" altLang="zh-CN" smtClean="0"/>
              <a:t>debug</a:t>
            </a:r>
            <a:endParaRPr lang="en-US" altLang="zh-CN"/>
          </a:p>
          <a:p>
            <a:r>
              <a:rPr lang="zh-CN" altLang="en-US" smtClean="0"/>
              <a:t>针对新的实验进行分析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8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smtClean="0"/>
              <a:t>基于</a:t>
            </a:r>
            <a:r>
              <a:rPr lang="en-US" altLang="zh-CN" sz="2000"/>
              <a:t>Contrastive Learning for </a:t>
            </a:r>
            <a:r>
              <a:rPr lang="en-US" altLang="zh-CN" sz="2000" smtClean="0"/>
              <a:t>Unpaired Image-to-Image Translation</a:t>
            </a:r>
            <a:r>
              <a:rPr lang="zh-CN" altLang="en-US" sz="2000" smtClean="0"/>
              <a:t>进行图像底层任务的框架设计</a:t>
            </a:r>
            <a:endParaRPr lang="zh-CN" altLang="en-US" sz="2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413" y="1718877"/>
            <a:ext cx="8695173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67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立方体 12"/>
          <p:cNvSpPr/>
          <p:nvPr/>
        </p:nvSpPr>
        <p:spPr>
          <a:xfrm>
            <a:off x="3898899" y="1928088"/>
            <a:ext cx="741217" cy="728520"/>
          </a:xfrm>
          <a:prstGeom prst="cube">
            <a:avLst>
              <a:gd name="adj" fmla="val 87921"/>
            </a:avLst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/>
          <p:cNvSpPr/>
          <p:nvPr/>
        </p:nvSpPr>
        <p:spPr>
          <a:xfrm>
            <a:off x="3786907" y="1801090"/>
            <a:ext cx="965203" cy="982516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手动操作 6"/>
          <p:cNvSpPr/>
          <p:nvPr/>
        </p:nvSpPr>
        <p:spPr>
          <a:xfrm rot="16200000">
            <a:off x="2396836" y="1796472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489199" y="2124470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Encoder</a:t>
            </a:r>
          </a:p>
          <a:p>
            <a:endParaRPr lang="zh-CN" altLang="en-US"/>
          </a:p>
        </p:txBody>
      </p:sp>
      <p:sp>
        <p:nvSpPr>
          <p:cNvPr id="9" name="流程图: 手动操作 8"/>
          <p:cNvSpPr/>
          <p:nvPr/>
        </p:nvSpPr>
        <p:spPr>
          <a:xfrm rot="5400000">
            <a:off x="4959927" y="1796471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052290" y="2124469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D</a:t>
            </a:r>
            <a:r>
              <a:rPr lang="en-US" altLang="zh-CN"/>
              <a:t>e</a:t>
            </a:r>
            <a:r>
              <a:rPr lang="en-US" altLang="zh-CN" smtClean="0"/>
              <a:t>coder</a:t>
            </a:r>
          </a:p>
          <a:p>
            <a:endParaRPr lang="zh-CN" altLang="en-US"/>
          </a:p>
        </p:txBody>
      </p:sp>
      <p:sp>
        <p:nvSpPr>
          <p:cNvPr id="14" name="立方体 13"/>
          <p:cNvSpPr/>
          <p:nvPr/>
        </p:nvSpPr>
        <p:spPr>
          <a:xfrm>
            <a:off x="10406703" y="1928088"/>
            <a:ext cx="741217" cy="728520"/>
          </a:xfrm>
          <a:prstGeom prst="cube">
            <a:avLst>
              <a:gd name="adj" fmla="val 87921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立方体 14"/>
          <p:cNvSpPr/>
          <p:nvPr/>
        </p:nvSpPr>
        <p:spPr>
          <a:xfrm>
            <a:off x="10294711" y="1801090"/>
            <a:ext cx="965203" cy="982516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76" y="1801089"/>
            <a:ext cx="1626219" cy="108527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484" y="1801089"/>
            <a:ext cx="1626220" cy="1085273"/>
          </a:xfrm>
          <a:prstGeom prst="rect">
            <a:avLst/>
          </a:prstGeom>
        </p:spPr>
      </p:pic>
      <p:cxnSp>
        <p:nvCxnSpPr>
          <p:cNvPr id="19" name="直接箭头连接符 18"/>
          <p:cNvCxnSpPr>
            <a:stCxn id="16" idx="3"/>
            <a:endCxn id="7" idx="0"/>
          </p:cNvCxnSpPr>
          <p:nvPr/>
        </p:nvCxnSpPr>
        <p:spPr>
          <a:xfrm>
            <a:off x="2049095" y="2343726"/>
            <a:ext cx="3431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3486727" y="2343726"/>
            <a:ext cx="300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9" idx="2"/>
          </p:cNvCxnSpPr>
          <p:nvPr/>
        </p:nvCxnSpPr>
        <p:spPr>
          <a:xfrm>
            <a:off x="4552545" y="2343726"/>
            <a:ext cx="4027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17" idx="1"/>
          </p:cNvCxnSpPr>
          <p:nvPr/>
        </p:nvCxnSpPr>
        <p:spPr>
          <a:xfrm>
            <a:off x="6049819" y="2343726"/>
            <a:ext cx="271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流程图: 手动操作 31"/>
          <p:cNvSpPr/>
          <p:nvPr/>
        </p:nvSpPr>
        <p:spPr>
          <a:xfrm rot="16200000">
            <a:off x="8444197" y="1796471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536560" y="2124469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Encoder</a:t>
            </a:r>
          </a:p>
          <a:p>
            <a:endParaRPr lang="zh-CN" altLang="en-US"/>
          </a:p>
        </p:txBody>
      </p:sp>
      <p:cxnSp>
        <p:nvCxnSpPr>
          <p:cNvPr id="34" name="直接箭头连接符 33"/>
          <p:cNvCxnSpPr>
            <a:stCxn id="17" idx="3"/>
            <a:endCxn id="32" idx="0"/>
          </p:cNvCxnSpPr>
          <p:nvPr/>
        </p:nvCxnSpPr>
        <p:spPr>
          <a:xfrm flipV="1">
            <a:off x="7947704" y="2343725"/>
            <a:ext cx="4918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左大括号 41"/>
          <p:cNvSpPr/>
          <p:nvPr/>
        </p:nvSpPr>
        <p:spPr>
          <a:xfrm rot="5400000">
            <a:off x="5673415" y="-1370990"/>
            <a:ext cx="506067" cy="5801521"/>
          </a:xfrm>
          <a:prstGeom prst="leftBrac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164601" y="745715"/>
            <a:ext cx="1770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Share weights</a:t>
            </a:r>
            <a:endParaRPr lang="zh-CN" altLang="en-US"/>
          </a:p>
        </p:txBody>
      </p:sp>
      <p:cxnSp>
        <p:nvCxnSpPr>
          <p:cNvPr id="53" name="直接箭头连接符 52"/>
          <p:cNvCxnSpPr/>
          <p:nvPr/>
        </p:nvCxnSpPr>
        <p:spPr>
          <a:xfrm>
            <a:off x="9534088" y="2343725"/>
            <a:ext cx="7606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4955309" y="4850064"/>
            <a:ext cx="1297708" cy="7782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MLP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8" name="肘形连接符 57"/>
          <p:cNvCxnSpPr>
            <a:stCxn id="12" idx="3"/>
          </p:cNvCxnSpPr>
          <p:nvPr/>
        </p:nvCxnSpPr>
        <p:spPr>
          <a:xfrm rot="16200000" flipH="1">
            <a:off x="3140717" y="3705254"/>
            <a:ext cx="2736240" cy="892943"/>
          </a:xfrm>
          <a:prstGeom prst="bentConnector3">
            <a:avLst>
              <a:gd name="adj1" fmla="val 99621"/>
            </a:avLst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8" name="肘形连接符 67"/>
          <p:cNvCxnSpPr>
            <a:stCxn id="15" idx="3"/>
            <a:endCxn id="54" idx="1"/>
          </p:cNvCxnSpPr>
          <p:nvPr/>
        </p:nvCxnSpPr>
        <p:spPr>
          <a:xfrm rot="5400000">
            <a:off x="6534958" y="1203958"/>
            <a:ext cx="2455565" cy="5614861"/>
          </a:xfrm>
          <a:prstGeom prst="bentConnector4">
            <a:avLst>
              <a:gd name="adj1" fmla="val 67278"/>
              <a:gd name="adj2" fmla="val 104071"/>
            </a:avLst>
          </a:prstGeom>
          <a:ln w="2222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V="1">
            <a:off x="6270133" y="4981477"/>
            <a:ext cx="2557077" cy="213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3" name="立方体 82"/>
          <p:cNvSpPr/>
          <p:nvPr/>
        </p:nvSpPr>
        <p:spPr>
          <a:xfrm>
            <a:off x="8939202" y="4633214"/>
            <a:ext cx="450657" cy="449485"/>
          </a:xfrm>
          <a:prstGeom prst="cube">
            <a:avLst>
              <a:gd name="adj" fmla="val 87921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立方体 83"/>
          <p:cNvSpPr/>
          <p:nvPr/>
        </p:nvSpPr>
        <p:spPr>
          <a:xfrm>
            <a:off x="8827210" y="4552437"/>
            <a:ext cx="586840" cy="606196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立方体 87"/>
          <p:cNvSpPr/>
          <p:nvPr/>
        </p:nvSpPr>
        <p:spPr>
          <a:xfrm>
            <a:off x="8880318" y="5191301"/>
            <a:ext cx="475391" cy="472366"/>
          </a:xfrm>
          <a:prstGeom prst="cube">
            <a:avLst>
              <a:gd name="adj" fmla="val 87921"/>
            </a:avLst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立方体 88"/>
          <p:cNvSpPr/>
          <p:nvPr/>
        </p:nvSpPr>
        <p:spPr>
          <a:xfrm>
            <a:off x="8795000" y="5082699"/>
            <a:ext cx="619049" cy="637055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6" name="直接箭头连接符 95"/>
          <p:cNvCxnSpPr>
            <a:endCxn id="38" idx="1"/>
          </p:cNvCxnSpPr>
          <p:nvPr/>
        </p:nvCxnSpPr>
        <p:spPr>
          <a:xfrm flipV="1">
            <a:off x="6270133" y="5522610"/>
            <a:ext cx="698446" cy="1075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1" name="右大括号 100"/>
          <p:cNvSpPr/>
          <p:nvPr/>
        </p:nvSpPr>
        <p:spPr>
          <a:xfrm>
            <a:off x="9610928" y="4850064"/>
            <a:ext cx="126359" cy="73930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9829665" y="5044936"/>
            <a:ext cx="121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similarity</a:t>
            </a:r>
            <a:endParaRPr lang="zh-CN" altLang="en-US"/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492" y="5725075"/>
            <a:ext cx="2735817" cy="647756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192" y="5788919"/>
            <a:ext cx="2940359" cy="570776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6968579" y="5366169"/>
            <a:ext cx="1387950" cy="3128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Predictor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4" name="直接箭头连接符 43"/>
          <p:cNvCxnSpPr>
            <a:stCxn id="38" idx="3"/>
          </p:cNvCxnSpPr>
          <p:nvPr/>
        </p:nvCxnSpPr>
        <p:spPr>
          <a:xfrm flipV="1">
            <a:off x="8356529" y="5515609"/>
            <a:ext cx="438471" cy="7001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 flipV="1">
            <a:off x="7065818" y="4812382"/>
            <a:ext cx="1071649" cy="309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7293452" y="4377226"/>
            <a:ext cx="206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Stop gradient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262551" y="3435927"/>
            <a:ext cx="1567114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Discriminator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1" name="肘形连接符 20"/>
          <p:cNvCxnSpPr>
            <a:stCxn id="17" idx="2"/>
            <a:endCxn id="6" idx="1"/>
          </p:cNvCxnSpPr>
          <p:nvPr/>
        </p:nvCxnSpPr>
        <p:spPr>
          <a:xfrm rot="16200000" flipH="1">
            <a:off x="7308335" y="2712620"/>
            <a:ext cx="780474" cy="11279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01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zh-CN" altLang="en-US" sz="2800" smtClean="0"/>
              <a:t>实验</a:t>
            </a:r>
            <a:r>
              <a:rPr lang="en-US" altLang="zh-CN" sz="2800" smtClean="0"/>
              <a:t>1</a:t>
            </a:r>
            <a:r>
              <a:rPr lang="zh-CN" altLang="en-US" sz="2800" smtClean="0"/>
              <a:t>：使用</a:t>
            </a:r>
            <a:r>
              <a:rPr lang="en-US" altLang="zh-CN" sz="2800" smtClean="0"/>
              <a:t>contrastive loss</a:t>
            </a:r>
            <a:br>
              <a:rPr lang="en-US" altLang="zh-CN" sz="2800" smtClean="0"/>
            </a:br>
            <a:r>
              <a:rPr lang="en-US" altLang="zh-CN" sz="2800"/>
              <a:t>	</a:t>
            </a:r>
            <a:r>
              <a:rPr lang="en-US" altLang="zh-CN" sz="2800" smtClean="0"/>
              <a:t>    </a:t>
            </a:r>
            <a:r>
              <a:rPr lang="zh-CN" altLang="en-US" sz="2800" smtClean="0"/>
              <a:t>数据集： </a:t>
            </a:r>
            <a:r>
              <a:rPr lang="en-US" altLang="zh-CN" sz="2800" smtClean="0"/>
              <a:t>Rain100L	</a:t>
            </a:r>
            <a:br>
              <a:rPr lang="en-US" altLang="zh-CN" sz="2800" smtClean="0"/>
            </a:br>
            <a:r>
              <a:rPr lang="en-US" altLang="zh-CN" sz="2800" smtClean="0"/>
              <a:t>	    </a:t>
            </a:r>
            <a:r>
              <a:rPr lang="zh-CN" altLang="en-US" sz="2800" smtClean="0"/>
              <a:t>作为</a:t>
            </a:r>
            <a:r>
              <a:rPr lang="en-US" altLang="zh-CN" sz="2800" smtClean="0"/>
              <a:t>baseline</a:t>
            </a:r>
            <a:endParaRPr lang="zh-CN" altLang="en-US" sz="280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527" y="1690688"/>
            <a:ext cx="5801784" cy="4351338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686" y="126446"/>
            <a:ext cx="5288738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2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45" y="1051555"/>
            <a:ext cx="5852172" cy="43891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267" y="1051554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01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zh-CN" altLang="en-US" sz="2800" smtClean="0"/>
              <a:t>实验</a:t>
            </a:r>
            <a:r>
              <a:rPr lang="en-US" altLang="zh-CN" sz="2800"/>
              <a:t>2</a:t>
            </a:r>
            <a:r>
              <a:rPr lang="zh-CN" altLang="en-US" sz="2800" smtClean="0"/>
              <a:t>：使用</a:t>
            </a:r>
            <a:r>
              <a:rPr lang="en-US" altLang="zh-CN" sz="2800" smtClean="0"/>
              <a:t>cosine loss</a:t>
            </a:r>
            <a:r>
              <a:rPr lang="zh-CN" altLang="en-US" sz="2800" smtClean="0"/>
              <a:t>和</a:t>
            </a:r>
            <a:r>
              <a:rPr lang="en-US" altLang="zh-CN" sz="2800" smtClean="0"/>
              <a:t>stop gradient</a:t>
            </a:r>
            <a:br>
              <a:rPr lang="en-US" altLang="zh-CN" sz="2800" smtClean="0"/>
            </a:br>
            <a:r>
              <a:rPr lang="en-US" altLang="zh-CN" sz="2800"/>
              <a:t>	</a:t>
            </a:r>
            <a:r>
              <a:rPr lang="en-US" altLang="zh-CN" sz="2800" smtClean="0"/>
              <a:t>    </a:t>
            </a:r>
            <a:r>
              <a:rPr lang="zh-CN" altLang="en-US" sz="2800" smtClean="0"/>
              <a:t>数据集： </a:t>
            </a:r>
            <a:r>
              <a:rPr lang="en-US" altLang="zh-CN" sz="2800" smtClean="0"/>
              <a:t>Rain100L	</a:t>
            </a:r>
            <a:endParaRPr lang="zh-CN" altLang="en-US" sz="28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395" y="1507808"/>
            <a:ext cx="5852172" cy="438912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867" y="860052"/>
            <a:ext cx="2735817" cy="64775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567" y="923896"/>
            <a:ext cx="2940359" cy="57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1403"/>
            <a:ext cx="5852172" cy="43891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173" y="1191403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29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Autofit/>
          </a:bodyPr>
          <a:lstStyle/>
          <a:p>
            <a:r>
              <a:rPr lang="zh-CN" altLang="en-US" sz="2800" smtClean="0"/>
              <a:t>实验</a:t>
            </a:r>
            <a:r>
              <a:rPr lang="en-US" altLang="zh-CN" sz="2800" smtClean="0"/>
              <a:t>3</a:t>
            </a:r>
            <a:r>
              <a:rPr lang="zh-CN" altLang="en-US" sz="2800" smtClean="0"/>
              <a:t>：使用</a:t>
            </a:r>
            <a:r>
              <a:rPr lang="en-US" altLang="zh-CN" sz="2800" smtClean="0"/>
              <a:t>rain100L</a:t>
            </a:r>
            <a:r>
              <a:rPr lang="zh-CN" altLang="en-US" sz="2800" smtClean="0"/>
              <a:t>的前</a:t>
            </a:r>
            <a:r>
              <a:rPr lang="en-US" altLang="zh-CN" sz="2800" smtClean="0"/>
              <a:t>900</a:t>
            </a:r>
            <a:r>
              <a:rPr lang="zh-CN" altLang="en-US" sz="2800" smtClean="0"/>
              <a:t>张作为有雨图像，后</a:t>
            </a:r>
            <a:r>
              <a:rPr lang="en-US" altLang="zh-CN" sz="2800" smtClean="0"/>
              <a:t>900</a:t>
            </a:r>
            <a:r>
              <a:rPr lang="zh-CN" altLang="en-US" sz="2800" smtClean="0"/>
              <a:t>张的作为无雨图像</a:t>
            </a:r>
            <a:r>
              <a:rPr lang="zh-CN" altLang="en-US" sz="2800"/>
              <a:t>，</a:t>
            </a:r>
            <a:r>
              <a:rPr lang="en-US" altLang="zh-CN" sz="2800" smtClean="0"/>
              <a:t>loss</a:t>
            </a:r>
            <a:r>
              <a:rPr lang="zh-CN" altLang="en-US" sz="2800" smtClean="0"/>
              <a:t>为</a:t>
            </a:r>
            <a:r>
              <a:rPr lang="en-US" altLang="zh-CN" sz="2800" smtClean="0"/>
              <a:t>contrastive loss</a:t>
            </a:r>
            <a:r>
              <a:rPr lang="zh-CN" altLang="en-US" sz="2800" smtClean="0"/>
              <a:t>，用来验证不是因为模型将无雨图像记下，才使得可以去雨</a:t>
            </a:r>
            <a:endParaRPr lang="zh-CN" altLang="en-US" sz="280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167" y="1814867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4150762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7614"/>
            <a:ext cx="5852172" cy="43891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72" y="1137613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67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验证</a:t>
            </a:r>
            <a:r>
              <a:rPr lang="en-US" altLang="zh-CN" smtClean="0"/>
              <a:t>representation collapse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767" y="1528516"/>
            <a:ext cx="5034909" cy="41565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32320" y="2000922"/>
            <a:ext cx="39803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仿照</a:t>
            </a:r>
            <a:r>
              <a:rPr lang="en-US" altLang="zh-CN"/>
              <a:t>Exploring Simple Siamese Representation </a:t>
            </a:r>
            <a:r>
              <a:rPr lang="en-US" altLang="zh-CN" smtClean="0"/>
              <a:t>Learning</a:t>
            </a:r>
            <a:r>
              <a:rPr lang="zh-CN" altLang="en-US" smtClean="0"/>
              <a:t>中，针对提出的特征，在</a:t>
            </a:r>
            <a:r>
              <a:rPr lang="en-US" altLang="zh-CN" smtClean="0"/>
              <a:t>channel-wise</a:t>
            </a:r>
            <a:r>
              <a:rPr lang="zh-CN" altLang="en-US" smtClean="0"/>
              <a:t>上进行方差统计，得出用于计算的不同层次抽取的特征的方差均为</a:t>
            </a:r>
            <a:r>
              <a:rPr lang="en-US" altLang="zh-CN" smtClean="0"/>
              <a:t>0.0039</a:t>
            </a:r>
            <a:r>
              <a:rPr lang="zh-CN" altLang="en-US" smtClean="0"/>
              <a:t>，正好为</a:t>
            </a:r>
            <a:r>
              <a:rPr lang="en-US" altLang="zh-CN" smtClean="0"/>
              <a:t>1/256</a:t>
            </a:r>
            <a:r>
              <a:rPr lang="zh-CN" altLang="en-US" smtClean="0"/>
              <a:t>，特征维度为</a:t>
            </a:r>
            <a:r>
              <a:rPr lang="en-US" altLang="zh-CN" smtClean="0"/>
              <a:t>256</a:t>
            </a:r>
            <a:r>
              <a:rPr lang="zh-CN" altLang="en-US" smtClean="0"/>
              <a:t>维。</a:t>
            </a:r>
            <a:endParaRPr lang="en-US" altLang="zh-CN" smtClean="0"/>
          </a:p>
          <a:p>
            <a:endParaRPr lang="en-US" altLang="zh-CN"/>
          </a:p>
          <a:p>
            <a:r>
              <a:rPr lang="zh-CN" altLang="en-US" smtClean="0"/>
              <a:t>根据这个实验，证明</a:t>
            </a:r>
            <a:r>
              <a:rPr lang="en-US" altLang="zh-CN" smtClean="0"/>
              <a:t>representation</a:t>
            </a:r>
            <a:r>
              <a:rPr lang="zh-CN" altLang="en-US" smtClean="0"/>
              <a:t>并没有</a:t>
            </a:r>
            <a:r>
              <a:rPr lang="en-US" altLang="zh-CN" smtClean="0"/>
              <a:t>collapse</a:t>
            </a:r>
            <a:r>
              <a:rPr lang="zh-CN" altLang="en-US" smtClean="0"/>
              <a:t>，证明对比学习收敛太快，在此任务上。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789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54" y="1876310"/>
            <a:ext cx="3481891" cy="348189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369" y="1876310"/>
            <a:ext cx="3481891" cy="348189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636" y="1876309"/>
            <a:ext cx="3481891" cy="348189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1194" y="839096"/>
            <a:ext cx="877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mtClean="0"/>
              <a:t>训练结果展示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313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存在问题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新</a:t>
            </a:r>
            <a:r>
              <a:rPr lang="zh-CN" altLang="en-US" smtClean="0"/>
              <a:t>框架没有原始</a:t>
            </a:r>
            <a:r>
              <a:rPr lang="en-US" altLang="zh-CN" smtClean="0"/>
              <a:t>contrastive learning</a:t>
            </a:r>
            <a:r>
              <a:rPr lang="zh-CN" altLang="en-US" smtClean="0"/>
              <a:t>效果好，需要进一步调整，在</a:t>
            </a:r>
            <a:r>
              <a:rPr lang="en-US" altLang="zh-CN" smtClean="0"/>
              <a:t>predictor</a:t>
            </a:r>
            <a:r>
              <a:rPr lang="zh-CN" altLang="en-US" smtClean="0"/>
              <a:t>上针对</a:t>
            </a:r>
            <a:r>
              <a:rPr lang="en-US" altLang="zh-CN" smtClean="0"/>
              <a:t>bn</a:t>
            </a:r>
            <a:r>
              <a:rPr lang="zh-CN" altLang="en-US" smtClean="0"/>
              <a:t>以及神经元进行不同尝试。</a:t>
            </a:r>
            <a:endParaRPr lang="en-US" altLang="zh-CN" smtClean="0"/>
          </a:p>
          <a:p>
            <a:r>
              <a:rPr lang="zh-CN" altLang="en-US" smtClean="0"/>
              <a:t>将</a:t>
            </a:r>
            <a:r>
              <a:rPr lang="en-US" altLang="zh-CN" smtClean="0"/>
              <a:t>contrastive learning</a:t>
            </a:r>
            <a:r>
              <a:rPr lang="zh-CN" altLang="en-US" smtClean="0"/>
              <a:t>去除，验证</a:t>
            </a:r>
            <a:r>
              <a:rPr lang="en-US" altLang="zh-CN" smtClean="0"/>
              <a:t>contrastive learning</a:t>
            </a:r>
            <a:r>
              <a:rPr lang="zh-CN" altLang="en-US" smtClean="0"/>
              <a:t>对于</a:t>
            </a:r>
            <a:r>
              <a:rPr lang="en-US" altLang="zh-CN" smtClean="0"/>
              <a:t>content</a:t>
            </a:r>
            <a:r>
              <a:rPr lang="zh-CN" altLang="en-US" smtClean="0"/>
              <a:t>的保持效果。</a:t>
            </a:r>
            <a:endParaRPr lang="en-US" altLang="zh-CN" smtClean="0"/>
          </a:p>
          <a:p>
            <a:r>
              <a:rPr lang="zh-CN" altLang="en-US" smtClean="0"/>
              <a:t>将</a:t>
            </a:r>
            <a:r>
              <a:rPr lang="en-US" altLang="zh-CN" smtClean="0"/>
              <a:t>unet</a:t>
            </a:r>
            <a:r>
              <a:rPr lang="zh-CN" altLang="en-US" smtClean="0"/>
              <a:t>融入到此框架中，在</a:t>
            </a:r>
            <a:r>
              <a:rPr lang="en-US" altLang="zh-CN" smtClean="0"/>
              <a:t>decoder</a:t>
            </a:r>
            <a:r>
              <a:rPr lang="zh-CN" altLang="en-US" smtClean="0"/>
              <a:t>部分加入更多信息，使得重建更加准确。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054908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234</Words>
  <Application>Microsoft Office PowerPoint</Application>
  <PresentationFormat>宽屏</PresentationFormat>
  <Paragraphs>28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Weekly Report</vt:lpstr>
      <vt:lpstr>工作汇报</vt:lpstr>
      <vt:lpstr>基于Contrastive Learning for Unpaired Image-to-Image Translation进行图像底层任务的框架设计</vt:lpstr>
      <vt:lpstr>PowerPoint 演示文稿</vt:lpstr>
      <vt:lpstr>实验1：使用contrastive loss      数据集： Rain100L       作为baseline</vt:lpstr>
      <vt:lpstr>PowerPoint 演示文稿</vt:lpstr>
      <vt:lpstr>实验2：使用cosine loss和stop gradient      数据集： Rain100L </vt:lpstr>
      <vt:lpstr>PowerPoint 演示文稿</vt:lpstr>
      <vt:lpstr>实验3：使用rain100L的前900张作为有雨图像，后900张的作为无雨图像，loss为contrastive loss，用来验证不是因为模型将无雨图像记下，才使得可以去雨</vt:lpstr>
      <vt:lpstr>PowerPoint 演示文稿</vt:lpstr>
      <vt:lpstr>验证representation collapse</vt:lpstr>
      <vt:lpstr>PowerPoint 演示文稿</vt:lpstr>
      <vt:lpstr>存在问题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</dc:title>
  <dc:creator>19938</dc:creator>
  <cp:lastModifiedBy>19938</cp:lastModifiedBy>
  <cp:revision>30</cp:revision>
  <dcterms:created xsi:type="dcterms:W3CDTF">2020-11-29T13:13:01Z</dcterms:created>
  <dcterms:modified xsi:type="dcterms:W3CDTF">2020-12-14T01:26:47Z</dcterms:modified>
</cp:coreProperties>
</file>