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74" r:id="rId3"/>
    <p:sldId id="268" r:id="rId4"/>
    <p:sldId id="269" r:id="rId5"/>
    <p:sldId id="283" r:id="rId6"/>
    <p:sldId id="284" r:id="rId7"/>
    <p:sldId id="270" r:id="rId8"/>
    <p:sldId id="271" r:id="rId9"/>
    <p:sldId id="280" r:id="rId10"/>
    <p:sldId id="272" r:id="rId11"/>
    <p:sldId id="275" r:id="rId12"/>
    <p:sldId id="281" r:id="rId13"/>
    <p:sldId id="282" r:id="rId14"/>
    <p:sldId id="276" r:id="rId15"/>
    <p:sldId id="285" r:id="rId16"/>
    <p:sldId id="273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0F9E21-038D-4013-9725-AD10128F74EA}" type="datetimeFigureOut">
              <a:rPr lang="zh-CN" altLang="en-US" smtClean="0"/>
              <a:t>2020/12/20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408E0D-F6F9-48F3-B41E-BF127D3599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8297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408E0D-F6F9-48F3-B41E-BF127D35995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9435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F270B-D3A0-4F88-AAD9-CA2399688AF9}" type="datetimeFigureOut">
              <a:rPr lang="zh-CN" altLang="en-US" smtClean="0"/>
              <a:t>2020/12/20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A91B-3275-45C8-A6BA-7181ED9838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477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F270B-D3A0-4F88-AAD9-CA2399688AF9}" type="datetimeFigureOut">
              <a:rPr lang="zh-CN" altLang="en-US" smtClean="0"/>
              <a:t>2020/12/20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A91B-3275-45C8-A6BA-7181ED9838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398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F270B-D3A0-4F88-AAD9-CA2399688AF9}" type="datetimeFigureOut">
              <a:rPr lang="zh-CN" altLang="en-US" smtClean="0"/>
              <a:t>2020/12/20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A91B-3275-45C8-A6BA-7181ED9838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2450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F270B-D3A0-4F88-AAD9-CA2399688AF9}" type="datetimeFigureOut">
              <a:rPr lang="zh-CN" altLang="en-US" smtClean="0"/>
              <a:t>2020/12/20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A91B-3275-45C8-A6BA-7181ED9838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1345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F270B-D3A0-4F88-AAD9-CA2399688AF9}" type="datetimeFigureOut">
              <a:rPr lang="zh-CN" altLang="en-US" smtClean="0"/>
              <a:t>2020/12/20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A91B-3275-45C8-A6BA-7181ED9838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88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F270B-D3A0-4F88-AAD9-CA2399688AF9}" type="datetimeFigureOut">
              <a:rPr lang="zh-CN" altLang="en-US" smtClean="0"/>
              <a:t>2020/12/20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A91B-3275-45C8-A6BA-7181ED9838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804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F270B-D3A0-4F88-AAD9-CA2399688AF9}" type="datetimeFigureOut">
              <a:rPr lang="zh-CN" altLang="en-US" smtClean="0"/>
              <a:t>2020/12/20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A91B-3275-45C8-A6BA-7181ED9838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724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F270B-D3A0-4F88-AAD9-CA2399688AF9}" type="datetimeFigureOut">
              <a:rPr lang="zh-CN" altLang="en-US" smtClean="0"/>
              <a:t>2020/12/20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A91B-3275-45C8-A6BA-7181ED9838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1649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F270B-D3A0-4F88-AAD9-CA2399688AF9}" type="datetimeFigureOut">
              <a:rPr lang="zh-CN" altLang="en-US" smtClean="0"/>
              <a:t>2020/12/20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A91B-3275-45C8-A6BA-7181ED9838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937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F270B-D3A0-4F88-AAD9-CA2399688AF9}" type="datetimeFigureOut">
              <a:rPr lang="zh-CN" altLang="en-US" smtClean="0"/>
              <a:t>2020/12/20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A91B-3275-45C8-A6BA-7181ED9838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318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F270B-D3A0-4F88-AAD9-CA2399688AF9}" type="datetimeFigureOut">
              <a:rPr lang="zh-CN" altLang="en-US" smtClean="0"/>
              <a:t>2020/12/20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A91B-3275-45C8-A6BA-7181ED9838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6487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AF270B-D3A0-4F88-AAD9-CA2399688AF9}" type="datetimeFigureOut">
              <a:rPr lang="zh-CN" altLang="en-US" smtClean="0"/>
              <a:t>2020/12/20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AA91B-3275-45C8-A6BA-7181ED9838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5536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smtClean="0"/>
              <a:t>Weekly Report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smtClean="0"/>
              <a:t>guoxin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8257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工作汇报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验证了</a:t>
            </a:r>
            <a:r>
              <a:rPr lang="en-US" altLang="zh-CN" smtClean="0"/>
              <a:t>contrastive learning</a:t>
            </a:r>
            <a:r>
              <a:rPr lang="zh-CN" altLang="en-US" smtClean="0"/>
              <a:t>对于</a:t>
            </a:r>
            <a:r>
              <a:rPr lang="en-US" altLang="zh-CN" smtClean="0"/>
              <a:t>content</a:t>
            </a:r>
            <a:r>
              <a:rPr lang="zh-CN" altLang="en-US" smtClean="0"/>
              <a:t>保持的有效性</a:t>
            </a:r>
            <a:endParaRPr lang="en-US" altLang="zh-CN" smtClean="0"/>
          </a:p>
          <a:p>
            <a:r>
              <a:rPr lang="zh-CN" altLang="en-US" smtClean="0"/>
              <a:t>针对</a:t>
            </a:r>
            <a:r>
              <a:rPr lang="en-US" altLang="zh-CN" smtClean="0"/>
              <a:t>similarity</a:t>
            </a:r>
            <a:r>
              <a:rPr lang="zh-CN" altLang="en-US" smtClean="0"/>
              <a:t>快速下降寻找</a:t>
            </a:r>
            <a:r>
              <a:rPr lang="zh-CN" altLang="en-US"/>
              <a:t>原因</a:t>
            </a:r>
            <a:endParaRPr lang="en-US" altLang="zh-CN" smtClean="0"/>
          </a:p>
          <a:p>
            <a:r>
              <a:rPr lang="zh-CN" altLang="en-US" smtClean="0"/>
              <a:t>针对伪影过多，进行新的设计改进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812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000" smtClean="0"/>
              <a:t>基于</a:t>
            </a:r>
            <a:r>
              <a:rPr lang="en-US" altLang="zh-CN" sz="2000"/>
              <a:t>Contrastive Learning for </a:t>
            </a:r>
            <a:r>
              <a:rPr lang="en-US" altLang="zh-CN" sz="2000" smtClean="0"/>
              <a:t>Unpaired Image-to-Image Translation</a:t>
            </a:r>
            <a:r>
              <a:rPr lang="zh-CN" altLang="en-US" sz="2000" smtClean="0"/>
              <a:t>进行图像底层任务的框架设计</a:t>
            </a:r>
            <a:endParaRPr lang="zh-CN" altLang="en-US" sz="20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413" y="1718877"/>
            <a:ext cx="8695173" cy="445808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5959" y="5793636"/>
            <a:ext cx="5288738" cy="82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267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立方体 12"/>
          <p:cNvSpPr/>
          <p:nvPr/>
        </p:nvSpPr>
        <p:spPr>
          <a:xfrm>
            <a:off x="3898899" y="1928088"/>
            <a:ext cx="741217" cy="728520"/>
          </a:xfrm>
          <a:prstGeom prst="cube">
            <a:avLst>
              <a:gd name="adj" fmla="val 87921"/>
            </a:avLst>
          </a:prstGeom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立方体 11"/>
          <p:cNvSpPr/>
          <p:nvPr/>
        </p:nvSpPr>
        <p:spPr>
          <a:xfrm>
            <a:off x="3786907" y="1801090"/>
            <a:ext cx="965203" cy="982516"/>
          </a:xfrm>
          <a:prstGeom prst="cube">
            <a:avLst>
              <a:gd name="adj" fmla="val 42922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流程图: 手动操作 6"/>
          <p:cNvSpPr/>
          <p:nvPr/>
        </p:nvSpPr>
        <p:spPr>
          <a:xfrm rot="16200000">
            <a:off x="2396836" y="1796472"/>
            <a:ext cx="1085273" cy="1094509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489199" y="2124470"/>
            <a:ext cx="12007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/>
              <a:t>Encoder</a:t>
            </a:r>
          </a:p>
          <a:p>
            <a:endParaRPr lang="zh-CN" altLang="en-US"/>
          </a:p>
        </p:txBody>
      </p:sp>
      <p:sp>
        <p:nvSpPr>
          <p:cNvPr id="9" name="流程图: 手动操作 8"/>
          <p:cNvSpPr/>
          <p:nvPr/>
        </p:nvSpPr>
        <p:spPr>
          <a:xfrm rot="5400000">
            <a:off x="4959927" y="1796471"/>
            <a:ext cx="1085273" cy="1094509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052290" y="2124469"/>
            <a:ext cx="12007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/>
              <a:t>D</a:t>
            </a:r>
            <a:r>
              <a:rPr lang="en-US" altLang="zh-CN"/>
              <a:t>e</a:t>
            </a:r>
            <a:r>
              <a:rPr lang="en-US" altLang="zh-CN" smtClean="0"/>
              <a:t>coder</a:t>
            </a:r>
          </a:p>
          <a:p>
            <a:endParaRPr lang="zh-CN" altLang="en-US"/>
          </a:p>
        </p:txBody>
      </p:sp>
      <p:sp>
        <p:nvSpPr>
          <p:cNvPr id="14" name="立方体 13"/>
          <p:cNvSpPr/>
          <p:nvPr/>
        </p:nvSpPr>
        <p:spPr>
          <a:xfrm>
            <a:off x="10406703" y="1928088"/>
            <a:ext cx="741217" cy="728520"/>
          </a:xfrm>
          <a:prstGeom prst="cube">
            <a:avLst>
              <a:gd name="adj" fmla="val 87921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立方体 14"/>
          <p:cNvSpPr/>
          <p:nvPr/>
        </p:nvSpPr>
        <p:spPr>
          <a:xfrm>
            <a:off x="10294711" y="1801090"/>
            <a:ext cx="965203" cy="982516"/>
          </a:xfrm>
          <a:prstGeom prst="cube">
            <a:avLst>
              <a:gd name="adj" fmla="val 42922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76" y="1801089"/>
            <a:ext cx="1626219" cy="1085273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1484" y="1801089"/>
            <a:ext cx="1626220" cy="1085273"/>
          </a:xfrm>
          <a:prstGeom prst="rect">
            <a:avLst/>
          </a:prstGeom>
        </p:spPr>
      </p:pic>
      <p:cxnSp>
        <p:nvCxnSpPr>
          <p:cNvPr id="19" name="直接箭头连接符 18"/>
          <p:cNvCxnSpPr>
            <a:stCxn id="16" idx="3"/>
            <a:endCxn id="7" idx="0"/>
          </p:cNvCxnSpPr>
          <p:nvPr/>
        </p:nvCxnSpPr>
        <p:spPr>
          <a:xfrm>
            <a:off x="2049095" y="2343726"/>
            <a:ext cx="3431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3486727" y="2343726"/>
            <a:ext cx="3001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endCxn id="9" idx="2"/>
          </p:cNvCxnSpPr>
          <p:nvPr/>
        </p:nvCxnSpPr>
        <p:spPr>
          <a:xfrm>
            <a:off x="4552545" y="2343726"/>
            <a:ext cx="4027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endCxn id="17" idx="1"/>
          </p:cNvCxnSpPr>
          <p:nvPr/>
        </p:nvCxnSpPr>
        <p:spPr>
          <a:xfrm>
            <a:off x="6049819" y="2343726"/>
            <a:ext cx="2716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流程图: 手动操作 31"/>
          <p:cNvSpPr/>
          <p:nvPr/>
        </p:nvSpPr>
        <p:spPr>
          <a:xfrm rot="16200000">
            <a:off x="8444197" y="1796471"/>
            <a:ext cx="1085273" cy="1094509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8536560" y="2124469"/>
            <a:ext cx="12007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/>
              <a:t>Encoder</a:t>
            </a:r>
          </a:p>
          <a:p>
            <a:endParaRPr lang="zh-CN" altLang="en-US"/>
          </a:p>
        </p:txBody>
      </p:sp>
      <p:cxnSp>
        <p:nvCxnSpPr>
          <p:cNvPr id="34" name="直接箭头连接符 33"/>
          <p:cNvCxnSpPr>
            <a:stCxn id="17" idx="3"/>
            <a:endCxn id="32" idx="0"/>
          </p:cNvCxnSpPr>
          <p:nvPr/>
        </p:nvCxnSpPr>
        <p:spPr>
          <a:xfrm flipV="1">
            <a:off x="7947704" y="2343725"/>
            <a:ext cx="49187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左大括号 41"/>
          <p:cNvSpPr/>
          <p:nvPr/>
        </p:nvSpPr>
        <p:spPr>
          <a:xfrm rot="5400000">
            <a:off x="5673415" y="-1370990"/>
            <a:ext cx="506067" cy="5801521"/>
          </a:xfrm>
          <a:prstGeom prst="leftBrace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5164601" y="745715"/>
            <a:ext cx="1770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/>
              <a:t>Share weights</a:t>
            </a:r>
            <a:endParaRPr lang="zh-CN" altLang="en-US"/>
          </a:p>
        </p:txBody>
      </p:sp>
      <p:cxnSp>
        <p:nvCxnSpPr>
          <p:cNvPr id="53" name="直接箭头连接符 52"/>
          <p:cNvCxnSpPr/>
          <p:nvPr/>
        </p:nvCxnSpPr>
        <p:spPr>
          <a:xfrm>
            <a:off x="9534088" y="2343725"/>
            <a:ext cx="7606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4955309" y="4850064"/>
            <a:ext cx="1297708" cy="77821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>
                <a:solidFill>
                  <a:schemeClr val="tx1"/>
                </a:solidFill>
              </a:rPr>
              <a:t>MLP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58" name="肘形连接符 57"/>
          <p:cNvCxnSpPr>
            <a:stCxn id="12" idx="3"/>
          </p:cNvCxnSpPr>
          <p:nvPr/>
        </p:nvCxnSpPr>
        <p:spPr>
          <a:xfrm rot="16200000" flipH="1">
            <a:off x="3140717" y="3705254"/>
            <a:ext cx="2736240" cy="892943"/>
          </a:xfrm>
          <a:prstGeom prst="bentConnector3">
            <a:avLst>
              <a:gd name="adj1" fmla="val 99621"/>
            </a:avLst>
          </a:prstGeom>
          <a:ln w="1905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68" name="肘形连接符 67"/>
          <p:cNvCxnSpPr>
            <a:stCxn id="15" idx="3"/>
            <a:endCxn id="54" idx="1"/>
          </p:cNvCxnSpPr>
          <p:nvPr/>
        </p:nvCxnSpPr>
        <p:spPr>
          <a:xfrm rot="5400000">
            <a:off x="6534958" y="1203958"/>
            <a:ext cx="2455565" cy="5614861"/>
          </a:xfrm>
          <a:prstGeom prst="bentConnector4">
            <a:avLst>
              <a:gd name="adj1" fmla="val 67278"/>
              <a:gd name="adj2" fmla="val 104071"/>
            </a:avLst>
          </a:prstGeom>
          <a:ln w="22225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/>
          <p:nvPr/>
        </p:nvCxnSpPr>
        <p:spPr>
          <a:xfrm flipV="1">
            <a:off x="6270133" y="4981477"/>
            <a:ext cx="2557077" cy="2135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3" name="立方体 82"/>
          <p:cNvSpPr/>
          <p:nvPr/>
        </p:nvSpPr>
        <p:spPr>
          <a:xfrm>
            <a:off x="8939202" y="4633214"/>
            <a:ext cx="450657" cy="449485"/>
          </a:xfrm>
          <a:prstGeom prst="cube">
            <a:avLst>
              <a:gd name="adj" fmla="val 87921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立方体 83"/>
          <p:cNvSpPr/>
          <p:nvPr/>
        </p:nvSpPr>
        <p:spPr>
          <a:xfrm>
            <a:off x="8827210" y="4552437"/>
            <a:ext cx="586840" cy="606196"/>
          </a:xfrm>
          <a:prstGeom prst="cube">
            <a:avLst>
              <a:gd name="adj" fmla="val 42922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立方体 87"/>
          <p:cNvSpPr/>
          <p:nvPr/>
        </p:nvSpPr>
        <p:spPr>
          <a:xfrm>
            <a:off x="8880318" y="5191301"/>
            <a:ext cx="475391" cy="472366"/>
          </a:xfrm>
          <a:prstGeom prst="cube">
            <a:avLst>
              <a:gd name="adj" fmla="val 87921"/>
            </a:avLst>
          </a:prstGeom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立方体 88"/>
          <p:cNvSpPr/>
          <p:nvPr/>
        </p:nvSpPr>
        <p:spPr>
          <a:xfrm>
            <a:off x="8795000" y="5082699"/>
            <a:ext cx="619049" cy="637055"/>
          </a:xfrm>
          <a:prstGeom prst="cube">
            <a:avLst>
              <a:gd name="adj" fmla="val 42922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6" name="直接箭头连接符 95"/>
          <p:cNvCxnSpPr>
            <a:endCxn id="38" idx="1"/>
          </p:cNvCxnSpPr>
          <p:nvPr/>
        </p:nvCxnSpPr>
        <p:spPr>
          <a:xfrm flipV="1">
            <a:off x="6270133" y="5522610"/>
            <a:ext cx="698446" cy="1075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01" name="右大括号 100"/>
          <p:cNvSpPr/>
          <p:nvPr/>
        </p:nvSpPr>
        <p:spPr>
          <a:xfrm>
            <a:off x="9610928" y="4850064"/>
            <a:ext cx="126359" cy="739301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文本框 101"/>
          <p:cNvSpPr txBox="1"/>
          <p:nvPr/>
        </p:nvSpPr>
        <p:spPr>
          <a:xfrm>
            <a:off x="9829665" y="5044936"/>
            <a:ext cx="1215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/>
              <a:t>similarity</a:t>
            </a:r>
            <a:endParaRPr lang="zh-CN" altLang="en-US"/>
          </a:p>
        </p:txBody>
      </p:sp>
      <p:pic>
        <p:nvPicPr>
          <p:cNvPr id="103" name="图片 1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9492" y="5725075"/>
            <a:ext cx="2735817" cy="647756"/>
          </a:xfrm>
          <a:prstGeom prst="rect">
            <a:avLst/>
          </a:prstGeom>
        </p:spPr>
      </p:pic>
      <p:pic>
        <p:nvPicPr>
          <p:cNvPr id="104" name="图片 10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2192" y="5788919"/>
            <a:ext cx="2940359" cy="570776"/>
          </a:xfrm>
          <a:prstGeom prst="rect">
            <a:avLst/>
          </a:prstGeom>
        </p:spPr>
      </p:pic>
      <p:sp>
        <p:nvSpPr>
          <p:cNvPr id="38" name="矩形 37"/>
          <p:cNvSpPr/>
          <p:nvPr/>
        </p:nvSpPr>
        <p:spPr>
          <a:xfrm>
            <a:off x="6968579" y="5366169"/>
            <a:ext cx="1387950" cy="31288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>
                <a:solidFill>
                  <a:schemeClr val="tx1"/>
                </a:solidFill>
              </a:rPr>
              <a:t>Predictor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44" name="直接箭头连接符 43"/>
          <p:cNvCxnSpPr>
            <a:stCxn id="38" idx="3"/>
          </p:cNvCxnSpPr>
          <p:nvPr/>
        </p:nvCxnSpPr>
        <p:spPr>
          <a:xfrm flipV="1">
            <a:off x="8356529" y="5515609"/>
            <a:ext cx="438471" cy="7001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/>
          <p:nvPr/>
        </p:nvCxnSpPr>
        <p:spPr>
          <a:xfrm flipH="1" flipV="1">
            <a:off x="7065818" y="4812382"/>
            <a:ext cx="1071649" cy="309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7293452" y="4377226"/>
            <a:ext cx="2062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/>
              <a:t>Stop gradient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262551" y="3435927"/>
            <a:ext cx="1567114" cy="461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>
                <a:solidFill>
                  <a:schemeClr val="tx1"/>
                </a:solidFill>
              </a:rPr>
              <a:t>Discriminator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1" name="肘形连接符 20"/>
          <p:cNvCxnSpPr>
            <a:stCxn id="17" idx="2"/>
            <a:endCxn id="6" idx="1"/>
          </p:cNvCxnSpPr>
          <p:nvPr/>
        </p:nvCxnSpPr>
        <p:spPr>
          <a:xfrm rot="16200000" flipH="1">
            <a:off x="7308335" y="2712620"/>
            <a:ext cx="780474" cy="112795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7013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去除</a:t>
            </a:r>
            <a:r>
              <a:rPr lang="en-US" altLang="zh-CN" smtClean="0"/>
              <a:t>contrastive learning</a:t>
            </a:r>
            <a:r>
              <a:rPr lang="zh-CN" altLang="en-US" smtClean="0"/>
              <a:t>后</a:t>
            </a:r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464" y="1690688"/>
            <a:ext cx="5801784" cy="4351338"/>
          </a:xfr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8512" y="1690688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594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8857" y="1632318"/>
            <a:ext cx="3840807" cy="3840807"/>
          </a:xfr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8052" y="1632320"/>
            <a:ext cx="3840806" cy="384080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48" y="1632321"/>
            <a:ext cx="3840805" cy="3840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08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zh-CN" altLang="en-US" sz="2800" smtClean="0"/>
              <a:t>通过针对</a:t>
            </a:r>
            <a:r>
              <a:rPr lang="en-US" altLang="zh-CN" sz="2800" smtClean="0"/>
              <a:t>predictor</a:t>
            </a:r>
            <a:r>
              <a:rPr lang="zh-CN" altLang="en-US" sz="2800" smtClean="0"/>
              <a:t>的层数，有无</a:t>
            </a:r>
            <a:r>
              <a:rPr lang="en-US" altLang="zh-CN" sz="2800" smtClean="0"/>
              <a:t>BN</a:t>
            </a:r>
            <a:r>
              <a:rPr lang="zh-CN" altLang="en-US" sz="2800" smtClean="0"/>
              <a:t>，神经元个数进行调整，发现</a:t>
            </a:r>
            <a:r>
              <a:rPr lang="en-US" altLang="zh-CN" sz="2800" smtClean="0"/>
              <a:t>loss</a:t>
            </a:r>
            <a:r>
              <a:rPr lang="zh-CN" altLang="en-US" sz="2800" smtClean="0"/>
              <a:t>依然很快收敛。在通过针对</a:t>
            </a:r>
            <a:r>
              <a:rPr lang="en-US" altLang="zh-CN" sz="2800" smtClean="0"/>
              <a:t>encoder</a:t>
            </a:r>
            <a:r>
              <a:rPr lang="zh-CN" altLang="en-US" sz="2800" smtClean="0"/>
              <a:t>的深度进行调整，从</a:t>
            </a:r>
            <a:r>
              <a:rPr lang="en-US" altLang="zh-CN" sz="2800" smtClean="0"/>
              <a:t>9</a:t>
            </a:r>
            <a:r>
              <a:rPr lang="zh-CN" altLang="en-US" sz="2800" smtClean="0"/>
              <a:t>个</a:t>
            </a:r>
            <a:r>
              <a:rPr lang="en-US" altLang="zh-CN" sz="2800" smtClean="0"/>
              <a:t>resnet block</a:t>
            </a:r>
            <a:r>
              <a:rPr lang="zh-CN" altLang="en-US" sz="2800" smtClean="0"/>
              <a:t>减少到</a:t>
            </a:r>
            <a:r>
              <a:rPr lang="en-US" altLang="zh-CN" sz="2800" smtClean="0"/>
              <a:t>4</a:t>
            </a:r>
            <a:r>
              <a:rPr lang="zh-CN" altLang="en-US" sz="2800" smtClean="0"/>
              <a:t>个，</a:t>
            </a:r>
            <a:r>
              <a:rPr lang="en-US" altLang="zh-CN" sz="2800" smtClean="0"/>
              <a:t>loss</a:t>
            </a:r>
            <a:r>
              <a:rPr lang="zh-CN" altLang="en-US" sz="2800" smtClean="0"/>
              <a:t>的下降趋势有所减缓，且性能有所提升</a:t>
            </a:r>
            <a:endParaRPr lang="zh-CN" altLang="en-US" sz="280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4008" y="1605333"/>
            <a:ext cx="5801784" cy="4351338"/>
          </a:xfr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28" y="1605333"/>
            <a:ext cx="5852172" cy="4389129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482609" y="6146862"/>
            <a:ext cx="2484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4</a:t>
            </a:r>
            <a:r>
              <a:rPr lang="en-US" altLang="zh-CN" smtClean="0"/>
              <a:t> blocks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080023" y="6146862"/>
            <a:ext cx="2484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mtClean="0"/>
              <a:t>9 blocks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625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873840" y="5601916"/>
            <a:ext cx="2484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mtClean="0"/>
              <a:t>9 blocks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2217" y="1051555"/>
            <a:ext cx="5852172" cy="438912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45" y="1051554"/>
            <a:ext cx="5852172" cy="4389129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726012" y="5601916"/>
            <a:ext cx="2484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4</a:t>
            </a:r>
            <a:r>
              <a:rPr lang="en-US" altLang="zh-CN" smtClean="0"/>
              <a:t> blocks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9001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91" y="600275"/>
            <a:ext cx="5852172" cy="438912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4788" y="600275"/>
            <a:ext cx="5852172" cy="438912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931699" y="4989404"/>
            <a:ext cx="2484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mtClean="0"/>
              <a:t>9 blocks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783871" y="4989404"/>
            <a:ext cx="2484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4</a:t>
            </a:r>
            <a:r>
              <a:rPr lang="en-US" altLang="zh-CN" smtClean="0"/>
              <a:t> blocks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343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t">
            <a:normAutofit/>
          </a:bodyPr>
          <a:lstStyle/>
          <a:p>
            <a:r>
              <a:rPr lang="zh-CN" altLang="en-US" sz="2800" smtClean="0"/>
              <a:t>针对</a:t>
            </a:r>
            <a:r>
              <a:rPr lang="en-US" altLang="zh-CN" sz="2800" smtClean="0"/>
              <a:t>baseline</a:t>
            </a:r>
            <a:r>
              <a:rPr lang="zh-CN" altLang="en-US" sz="2800" smtClean="0"/>
              <a:t>也进行了相应的改动，性能一样提升</a:t>
            </a:r>
            <a:r>
              <a:rPr lang="en-US" altLang="zh-CN" sz="2800" smtClean="0"/>
              <a:t>	</a:t>
            </a:r>
            <a:endParaRPr lang="zh-CN" altLang="en-US" sz="28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9914" y="1215962"/>
            <a:ext cx="5852172" cy="4389129"/>
          </a:xfrm>
          <a:prstGeom prst="rect">
            <a:avLst/>
          </a:prstGeom>
        </p:spPr>
      </p:pic>
      <p:pic>
        <p:nvPicPr>
          <p:cNvPr id="7" name="内容占位符 5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5962"/>
            <a:ext cx="5801784" cy="4351338"/>
          </a:xfrm>
        </p:spPr>
      </p:pic>
      <p:sp>
        <p:nvSpPr>
          <p:cNvPr id="8" name="文本框 7"/>
          <p:cNvSpPr txBox="1"/>
          <p:nvPr/>
        </p:nvSpPr>
        <p:spPr>
          <a:xfrm>
            <a:off x="1673080" y="5567300"/>
            <a:ext cx="2484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mtClean="0"/>
              <a:t>9 blocks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525252" y="5567300"/>
            <a:ext cx="2484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4</a:t>
            </a:r>
            <a:r>
              <a:rPr lang="en-US" altLang="zh-CN" smtClean="0"/>
              <a:t> blocks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45" y="1051555"/>
            <a:ext cx="5852172" cy="438912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4787" y="1051555"/>
            <a:ext cx="5852172" cy="4389129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673080" y="5567300"/>
            <a:ext cx="2484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mtClean="0"/>
              <a:t>9 blocks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525252" y="5567300"/>
            <a:ext cx="2484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4</a:t>
            </a:r>
            <a:r>
              <a:rPr lang="en-US" altLang="zh-CN" smtClean="0"/>
              <a:t> blocks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1329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813" y="968427"/>
            <a:ext cx="5852172" cy="438912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673080" y="5567300"/>
            <a:ext cx="2484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mtClean="0"/>
              <a:t>9 blocks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525252" y="5567300"/>
            <a:ext cx="2484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4</a:t>
            </a:r>
            <a:r>
              <a:rPr lang="en-US" altLang="zh-CN" smtClean="0"/>
              <a:t> blocks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5551" y="968427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837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493" y="854320"/>
            <a:ext cx="6973546" cy="570959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00391" y="321013"/>
            <a:ext cx="5544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添加新的分支，消除</a:t>
            </a:r>
            <a:r>
              <a:rPr lang="en-US" altLang="zh-CN" smtClean="0"/>
              <a:t>artifacts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8974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立方体 4"/>
          <p:cNvSpPr/>
          <p:nvPr/>
        </p:nvSpPr>
        <p:spPr>
          <a:xfrm>
            <a:off x="3994899" y="2378360"/>
            <a:ext cx="741217" cy="728520"/>
          </a:xfrm>
          <a:prstGeom prst="cube">
            <a:avLst>
              <a:gd name="adj" fmla="val 87921"/>
            </a:avLst>
          </a:prstGeom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立方体 5"/>
          <p:cNvSpPr/>
          <p:nvPr/>
        </p:nvSpPr>
        <p:spPr>
          <a:xfrm>
            <a:off x="3882907" y="2251362"/>
            <a:ext cx="965203" cy="982516"/>
          </a:xfrm>
          <a:prstGeom prst="cube">
            <a:avLst>
              <a:gd name="adj" fmla="val 42922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流程图: 手动操作 6"/>
          <p:cNvSpPr/>
          <p:nvPr/>
        </p:nvSpPr>
        <p:spPr>
          <a:xfrm rot="16200000">
            <a:off x="2492836" y="2246744"/>
            <a:ext cx="1085273" cy="1094509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585199" y="2574742"/>
            <a:ext cx="12007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/>
              <a:t>Encoder</a:t>
            </a:r>
          </a:p>
          <a:p>
            <a:endParaRPr lang="zh-CN" altLang="en-US"/>
          </a:p>
        </p:txBody>
      </p:sp>
      <p:sp>
        <p:nvSpPr>
          <p:cNvPr id="9" name="流程图: 手动操作 8"/>
          <p:cNvSpPr/>
          <p:nvPr/>
        </p:nvSpPr>
        <p:spPr>
          <a:xfrm rot="5400000">
            <a:off x="5055927" y="2246743"/>
            <a:ext cx="1085273" cy="1094509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148290" y="2574741"/>
            <a:ext cx="12007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/>
              <a:t>D</a:t>
            </a:r>
            <a:r>
              <a:rPr lang="en-US" altLang="zh-CN"/>
              <a:t>e</a:t>
            </a:r>
            <a:r>
              <a:rPr lang="en-US" altLang="zh-CN" smtClean="0"/>
              <a:t>coder</a:t>
            </a:r>
          </a:p>
          <a:p>
            <a:endParaRPr lang="zh-CN" altLang="en-US"/>
          </a:p>
        </p:txBody>
      </p:sp>
      <p:sp>
        <p:nvSpPr>
          <p:cNvPr id="11" name="立方体 10"/>
          <p:cNvSpPr/>
          <p:nvPr/>
        </p:nvSpPr>
        <p:spPr>
          <a:xfrm>
            <a:off x="10502703" y="2378360"/>
            <a:ext cx="741217" cy="728520"/>
          </a:xfrm>
          <a:prstGeom prst="cube">
            <a:avLst>
              <a:gd name="adj" fmla="val 87921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立方体 11"/>
          <p:cNvSpPr/>
          <p:nvPr/>
        </p:nvSpPr>
        <p:spPr>
          <a:xfrm>
            <a:off x="10390711" y="2251362"/>
            <a:ext cx="965203" cy="982516"/>
          </a:xfrm>
          <a:prstGeom prst="cube">
            <a:avLst>
              <a:gd name="adj" fmla="val 42922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484" y="2251361"/>
            <a:ext cx="1021769" cy="681887"/>
          </a:xfrm>
          <a:prstGeom prst="rect">
            <a:avLst/>
          </a:prstGeom>
        </p:spPr>
      </p:pic>
      <p:cxnSp>
        <p:nvCxnSpPr>
          <p:cNvPr id="14" name="直接箭头连接符 13"/>
          <p:cNvCxnSpPr/>
          <p:nvPr/>
        </p:nvCxnSpPr>
        <p:spPr>
          <a:xfrm>
            <a:off x="2145095" y="2507671"/>
            <a:ext cx="34312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3582727" y="2714613"/>
            <a:ext cx="30018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>
            <a:off x="4646728" y="2714613"/>
            <a:ext cx="40276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6145819" y="2714613"/>
            <a:ext cx="27166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流程图: 手动操作 17"/>
          <p:cNvSpPr/>
          <p:nvPr/>
        </p:nvSpPr>
        <p:spPr>
          <a:xfrm rot="16200000">
            <a:off x="8540197" y="2246743"/>
            <a:ext cx="1085273" cy="1094509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8632560" y="2574741"/>
            <a:ext cx="12007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/>
              <a:t>Encoder</a:t>
            </a:r>
          </a:p>
          <a:p>
            <a:endParaRPr lang="zh-CN" altLang="en-US"/>
          </a:p>
        </p:txBody>
      </p:sp>
      <p:sp>
        <p:nvSpPr>
          <p:cNvPr id="21" name="左大括号 20"/>
          <p:cNvSpPr/>
          <p:nvPr/>
        </p:nvSpPr>
        <p:spPr>
          <a:xfrm rot="5400000">
            <a:off x="5575492" y="-904012"/>
            <a:ext cx="565150" cy="5871479"/>
          </a:xfrm>
          <a:prstGeom prst="leftBrace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4863436" y="1477424"/>
            <a:ext cx="1770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/>
              <a:t>Share weights</a:t>
            </a:r>
            <a:endParaRPr lang="zh-CN" altLang="en-US"/>
          </a:p>
        </p:txBody>
      </p:sp>
      <p:cxnSp>
        <p:nvCxnSpPr>
          <p:cNvPr id="23" name="直接箭头连接符 22"/>
          <p:cNvCxnSpPr/>
          <p:nvPr/>
        </p:nvCxnSpPr>
        <p:spPr>
          <a:xfrm>
            <a:off x="9630088" y="2793997"/>
            <a:ext cx="7606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肘形连接符 24"/>
          <p:cNvCxnSpPr>
            <a:stCxn id="6" idx="3"/>
            <a:endCxn id="34" idx="1"/>
          </p:cNvCxnSpPr>
          <p:nvPr/>
        </p:nvCxnSpPr>
        <p:spPr>
          <a:xfrm rot="16200000" flipH="1">
            <a:off x="6420300" y="971944"/>
            <a:ext cx="1374577" cy="5898444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6" name="肘形连接符 25"/>
          <p:cNvCxnSpPr>
            <a:stCxn id="12" idx="3"/>
            <a:endCxn id="34" idx="0"/>
          </p:cNvCxnSpPr>
          <p:nvPr/>
        </p:nvCxnSpPr>
        <p:spPr>
          <a:xfrm rot="5400000">
            <a:off x="10070530" y="3828148"/>
            <a:ext cx="1189911" cy="1370"/>
          </a:xfrm>
          <a:prstGeom prst="bentConnector3">
            <a:avLst>
              <a:gd name="adj1" fmla="val 50000"/>
            </a:avLst>
          </a:prstGeom>
          <a:ln w="22225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10056810" y="4423789"/>
            <a:ext cx="1215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/>
              <a:t>similarity</a:t>
            </a:r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8358551" y="3886199"/>
            <a:ext cx="1567114" cy="461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>
                <a:solidFill>
                  <a:schemeClr val="tx1"/>
                </a:solidFill>
              </a:rPr>
              <a:t>Discriminator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42" name="肘形连接符 41"/>
          <p:cNvCxnSpPr>
            <a:stCxn id="59" idx="2"/>
            <a:endCxn id="41" idx="1"/>
          </p:cNvCxnSpPr>
          <p:nvPr/>
        </p:nvCxnSpPr>
        <p:spPr>
          <a:xfrm rot="16200000" flipH="1">
            <a:off x="7454375" y="3212931"/>
            <a:ext cx="392427" cy="141592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3" name="图片 4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270" y="2060988"/>
            <a:ext cx="1098371" cy="733009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265" y="2870709"/>
            <a:ext cx="972771" cy="726336"/>
          </a:xfrm>
          <a:prstGeom prst="rect">
            <a:avLst/>
          </a:prstGeom>
        </p:spPr>
      </p:pic>
      <p:cxnSp>
        <p:nvCxnSpPr>
          <p:cNvPr id="58" name="直接箭头连接符 57"/>
          <p:cNvCxnSpPr/>
          <p:nvPr/>
        </p:nvCxnSpPr>
        <p:spPr>
          <a:xfrm>
            <a:off x="2153642" y="3106880"/>
            <a:ext cx="3431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9" name="图片 5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5998" y="2999517"/>
            <a:ext cx="993255" cy="725164"/>
          </a:xfrm>
          <a:prstGeom prst="rect">
            <a:avLst/>
          </a:prstGeom>
        </p:spPr>
      </p:pic>
      <p:cxnSp>
        <p:nvCxnSpPr>
          <p:cNvPr id="62" name="直接箭头连接符 61"/>
          <p:cNvCxnSpPr/>
          <p:nvPr/>
        </p:nvCxnSpPr>
        <p:spPr>
          <a:xfrm>
            <a:off x="6145818" y="3192189"/>
            <a:ext cx="2716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 flipV="1">
            <a:off x="7464653" y="3166316"/>
            <a:ext cx="1061837" cy="10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/>
        </p:nvCxnSpPr>
        <p:spPr>
          <a:xfrm>
            <a:off x="3582727" y="2999517"/>
            <a:ext cx="3001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>
          <a:xfrm>
            <a:off x="4646729" y="2933248"/>
            <a:ext cx="4027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文本框 67"/>
          <p:cNvSpPr txBox="1"/>
          <p:nvPr/>
        </p:nvSpPr>
        <p:spPr>
          <a:xfrm>
            <a:off x="5957834" y="1218483"/>
            <a:ext cx="1941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/>
              <a:t>Supervised loss</a:t>
            </a:r>
            <a:endParaRPr lang="zh-CN" altLang="en-US"/>
          </a:p>
        </p:txBody>
      </p:sp>
      <p:cxnSp>
        <p:nvCxnSpPr>
          <p:cNvPr id="69" name="直接箭头连接符 68"/>
          <p:cNvCxnSpPr>
            <a:stCxn id="13" idx="0"/>
            <a:endCxn id="68" idx="2"/>
          </p:cNvCxnSpPr>
          <p:nvPr/>
        </p:nvCxnSpPr>
        <p:spPr>
          <a:xfrm flipH="1" flipV="1">
            <a:off x="6928368" y="1587815"/>
            <a:ext cx="1" cy="66354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肘形连接符 76"/>
          <p:cNvCxnSpPr>
            <a:stCxn id="43" idx="0"/>
            <a:endCxn id="68" idx="1"/>
          </p:cNvCxnSpPr>
          <p:nvPr/>
        </p:nvCxnSpPr>
        <p:spPr>
          <a:xfrm rot="5400000" flipH="1" flipV="1">
            <a:off x="3434726" y="-462120"/>
            <a:ext cx="657839" cy="4388378"/>
          </a:xfrm>
          <a:prstGeom prst="bentConnector2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本框 77"/>
          <p:cNvSpPr txBox="1"/>
          <p:nvPr/>
        </p:nvSpPr>
        <p:spPr>
          <a:xfrm>
            <a:off x="700391" y="321013"/>
            <a:ext cx="5544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/>
              <a:t>Pair</a:t>
            </a:r>
            <a:r>
              <a:rPr lang="zh-CN" altLang="en-US" smtClean="0"/>
              <a:t>数据与</a:t>
            </a:r>
            <a:r>
              <a:rPr lang="en-US" altLang="zh-CN" smtClean="0"/>
              <a:t>unpair</a:t>
            </a:r>
            <a:r>
              <a:rPr lang="zh-CN" altLang="en-US" smtClean="0"/>
              <a:t>数据轮番迭代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0762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实验所得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过</a:t>
            </a:r>
            <a:r>
              <a:rPr lang="zh-CN" altLang="en-US" smtClean="0"/>
              <a:t>深的网络结构对于图像底层任务并不合适</a:t>
            </a:r>
            <a:endParaRPr lang="en-US" altLang="zh-CN" smtClean="0"/>
          </a:p>
          <a:p>
            <a:r>
              <a:rPr lang="en-US" altLang="zh-CN" smtClean="0"/>
              <a:t>Contrastive learning</a:t>
            </a:r>
            <a:r>
              <a:rPr lang="zh-CN" altLang="en-US" smtClean="0"/>
              <a:t>可以针对</a:t>
            </a:r>
            <a:r>
              <a:rPr lang="en-US" altLang="zh-CN" smtClean="0"/>
              <a:t>content</a:t>
            </a:r>
            <a:r>
              <a:rPr lang="zh-CN" altLang="en-US" smtClean="0"/>
              <a:t>位置信息保留较好，但是对于</a:t>
            </a:r>
            <a:r>
              <a:rPr lang="en-US" altLang="zh-CN" smtClean="0"/>
              <a:t>appearance</a:t>
            </a:r>
            <a:r>
              <a:rPr lang="zh-CN" altLang="en-US" smtClean="0"/>
              <a:t>的重建并没有起到帮助。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76424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存在问题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完成</a:t>
            </a:r>
            <a:r>
              <a:rPr lang="en-US" altLang="zh-CN"/>
              <a:t>Rethinking the Truly </a:t>
            </a:r>
            <a:r>
              <a:rPr lang="en-US" altLang="zh-CN"/>
              <a:t>Unsupervised </a:t>
            </a:r>
            <a:r>
              <a:rPr lang="en-US" altLang="zh-CN" smtClean="0"/>
              <a:t>Image-to-Image Translation</a:t>
            </a:r>
            <a:r>
              <a:rPr lang="zh-CN" altLang="en-US" smtClean="0"/>
              <a:t>的代码迁移</a:t>
            </a:r>
            <a:endParaRPr lang="en-US" altLang="zh-CN" smtClean="0"/>
          </a:p>
          <a:p>
            <a:r>
              <a:rPr lang="zh-CN" altLang="en-US" smtClean="0"/>
              <a:t>完成新的分支添加</a:t>
            </a:r>
            <a:endParaRPr lang="en-US" altLang="zh-CN" smtClean="0"/>
          </a:p>
          <a:p>
            <a:r>
              <a:rPr lang="zh-CN" altLang="en-US" smtClean="0"/>
              <a:t>思考如何更好去除伪影</a:t>
            </a:r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4054908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1145</TotalTime>
  <Words>227</Words>
  <Application>Microsoft Office PowerPoint</Application>
  <PresentationFormat>宽屏</PresentationFormat>
  <Paragraphs>48</Paragraphs>
  <Slides>16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等线</vt:lpstr>
      <vt:lpstr>等线 Light</vt:lpstr>
      <vt:lpstr>Arial</vt:lpstr>
      <vt:lpstr>Office 主题​​</vt:lpstr>
      <vt:lpstr>Weekly Report</vt:lpstr>
      <vt:lpstr>工作汇报</vt:lpstr>
      <vt:lpstr>基于Contrastive Learning for Unpaired Image-to-Image Translation进行图像底层任务的框架设计</vt:lpstr>
      <vt:lpstr>PowerPoint 演示文稿</vt:lpstr>
      <vt:lpstr>去除contrastive learning后</vt:lpstr>
      <vt:lpstr>PowerPoint 演示文稿</vt:lpstr>
      <vt:lpstr>通过针对predictor的层数，有无BN，神经元个数进行调整，发现loss依然很快收敛。在通过针对encoder的深度进行调整，从9个resnet block减少到4个，loss的下降趋势有所减缓，且性能有所提升</vt:lpstr>
      <vt:lpstr>PowerPoint 演示文稿</vt:lpstr>
      <vt:lpstr>PowerPoint 演示文稿</vt:lpstr>
      <vt:lpstr>针对baseline也进行了相应的改动，性能一样提升 </vt:lpstr>
      <vt:lpstr>PowerPoint 演示文稿</vt:lpstr>
      <vt:lpstr>PowerPoint 演示文稿</vt:lpstr>
      <vt:lpstr>PowerPoint 演示文稿</vt:lpstr>
      <vt:lpstr>PowerPoint 演示文稿</vt:lpstr>
      <vt:lpstr>实验所得</vt:lpstr>
      <vt:lpstr>存在问题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</dc:title>
  <dc:creator>19938</dc:creator>
  <cp:lastModifiedBy>19938</cp:lastModifiedBy>
  <cp:revision>42</cp:revision>
  <dcterms:created xsi:type="dcterms:W3CDTF">2020-11-29T13:13:01Z</dcterms:created>
  <dcterms:modified xsi:type="dcterms:W3CDTF">2020-12-20T15:25:57Z</dcterms:modified>
</cp:coreProperties>
</file>