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90" r:id="rId3"/>
    <p:sldId id="292" r:id="rId4"/>
    <p:sldId id="293" r:id="rId5"/>
    <p:sldId id="294" r:id="rId6"/>
    <p:sldId id="295" r:id="rId7"/>
    <p:sldId id="289" r:id="rId8"/>
    <p:sldId id="291" r:id="rId9"/>
    <p:sldId id="287" r:id="rId10"/>
    <p:sldId id="28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01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F5F1-90C9-42BC-A4C5-6E602179E647}" type="datetimeFigureOut">
              <a:rPr lang="zh-CN" altLang="en-US" smtClean="0"/>
              <a:t>2021/7/6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CCDE-4C45-42D1-BE81-C66F15B18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115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F5F1-90C9-42BC-A4C5-6E602179E647}" type="datetimeFigureOut">
              <a:rPr lang="zh-CN" altLang="en-US" smtClean="0"/>
              <a:t>2021/7/6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CCDE-4C45-42D1-BE81-C66F15B18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39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F5F1-90C9-42BC-A4C5-6E602179E647}" type="datetimeFigureOut">
              <a:rPr lang="zh-CN" altLang="en-US" smtClean="0"/>
              <a:t>2021/7/6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CCDE-4C45-42D1-BE81-C66F15B18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1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F5F1-90C9-42BC-A4C5-6E602179E647}" type="datetimeFigureOut">
              <a:rPr lang="zh-CN" altLang="en-US" smtClean="0"/>
              <a:t>2021/7/6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CCDE-4C45-42D1-BE81-C66F15B18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26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F5F1-90C9-42BC-A4C5-6E602179E647}" type="datetimeFigureOut">
              <a:rPr lang="zh-CN" altLang="en-US" smtClean="0"/>
              <a:t>2021/7/6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CCDE-4C45-42D1-BE81-C66F15B18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678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F5F1-90C9-42BC-A4C5-6E602179E647}" type="datetimeFigureOut">
              <a:rPr lang="zh-CN" altLang="en-US" smtClean="0"/>
              <a:t>2021/7/6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CCDE-4C45-42D1-BE81-C66F15B18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75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F5F1-90C9-42BC-A4C5-6E602179E647}" type="datetimeFigureOut">
              <a:rPr lang="zh-CN" altLang="en-US" smtClean="0"/>
              <a:t>2021/7/6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CCDE-4C45-42D1-BE81-C66F15B18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92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F5F1-90C9-42BC-A4C5-6E602179E647}" type="datetimeFigureOut">
              <a:rPr lang="zh-CN" altLang="en-US" smtClean="0"/>
              <a:t>2021/7/6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CCDE-4C45-42D1-BE81-C66F15B18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02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F5F1-90C9-42BC-A4C5-6E602179E647}" type="datetimeFigureOut">
              <a:rPr lang="zh-CN" altLang="en-US" smtClean="0"/>
              <a:t>2021/7/6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CCDE-4C45-42D1-BE81-C66F15B18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519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F5F1-90C9-42BC-A4C5-6E602179E647}" type="datetimeFigureOut">
              <a:rPr lang="zh-CN" altLang="en-US" smtClean="0"/>
              <a:t>2021/7/6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CCDE-4C45-42D1-BE81-C66F15B18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784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F5F1-90C9-42BC-A4C5-6E602179E647}" type="datetimeFigureOut">
              <a:rPr lang="zh-CN" altLang="en-US" smtClean="0"/>
              <a:t>2021/7/6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CCDE-4C45-42D1-BE81-C66F15B18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06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DF5F1-90C9-42BC-A4C5-6E602179E647}" type="datetimeFigureOut">
              <a:rPr lang="zh-CN" altLang="en-US" smtClean="0"/>
              <a:t>2021/7/6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CCCDE-4C45-42D1-BE81-C66F15B18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330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mtClean="0"/>
              <a:t>去雨</a:t>
            </a:r>
            <a:r>
              <a:rPr lang="en-US" altLang="zh-CN" smtClean="0"/>
              <a:t>&amp;reid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郭鑫 </a:t>
            </a:r>
            <a:r>
              <a:rPr lang="en-US" altLang="zh-CN" smtClean="0"/>
              <a:t>BA20010027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40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实验设计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合成</a:t>
            </a:r>
            <a:r>
              <a:rPr lang="en-US" altLang="zh-CN" smtClean="0"/>
              <a:t>RAIN200L_REID</a:t>
            </a:r>
            <a:r>
              <a:rPr lang="zh-CN" altLang="en-US" smtClean="0"/>
              <a:t>和</a:t>
            </a:r>
            <a:r>
              <a:rPr lang="en-US" altLang="zh-CN" smtClean="0"/>
              <a:t>RAIN200H_REID</a:t>
            </a:r>
            <a:r>
              <a:rPr lang="zh-CN" altLang="en-US" smtClean="0"/>
              <a:t>两个数据集，在</a:t>
            </a:r>
            <a:r>
              <a:rPr lang="en-US" altLang="zh-CN" smtClean="0"/>
              <a:t>RAIN200</a:t>
            </a:r>
            <a:r>
              <a:rPr lang="zh-CN" altLang="en-US" smtClean="0"/>
              <a:t>的</a:t>
            </a:r>
            <a:r>
              <a:rPr lang="en-US" altLang="zh-CN" smtClean="0"/>
              <a:t>gt</a:t>
            </a:r>
            <a:r>
              <a:rPr lang="zh-CN" altLang="en-US" smtClean="0"/>
              <a:t>基础上</a:t>
            </a:r>
            <a:endParaRPr lang="en-US" altLang="zh-CN" smtClean="0"/>
          </a:p>
          <a:p>
            <a:r>
              <a:rPr lang="zh-CN" altLang="en-US" smtClean="0"/>
              <a:t>使用</a:t>
            </a:r>
            <a:r>
              <a:rPr lang="en-US" altLang="zh-CN" smtClean="0"/>
              <a:t>prenet</a:t>
            </a:r>
            <a:r>
              <a:rPr lang="zh-CN" altLang="en-US" smtClean="0"/>
              <a:t>进行训练</a:t>
            </a:r>
            <a:endParaRPr lang="en-US" altLang="zh-CN" smtClean="0"/>
          </a:p>
          <a:p>
            <a:r>
              <a:rPr lang="zh-CN" altLang="en-US" smtClean="0"/>
              <a:t>在</a:t>
            </a:r>
            <a:r>
              <a:rPr lang="en-US" altLang="zh-CN" smtClean="0"/>
              <a:t>market1501</a:t>
            </a:r>
            <a:r>
              <a:rPr lang="zh-CN" altLang="en-US" smtClean="0"/>
              <a:t>上分别加上</a:t>
            </a:r>
            <a:r>
              <a:rPr lang="en-US" altLang="zh-CN" smtClean="0"/>
              <a:t>light</a:t>
            </a:r>
            <a:r>
              <a:rPr lang="zh-CN" altLang="en-US" smtClean="0"/>
              <a:t>和</a:t>
            </a:r>
            <a:r>
              <a:rPr lang="en-US" altLang="zh-CN" smtClean="0"/>
              <a:t>heavy</a:t>
            </a:r>
            <a:r>
              <a:rPr lang="zh-CN" altLang="en-US" smtClean="0"/>
              <a:t>两种雨</a:t>
            </a:r>
            <a:endParaRPr lang="en-US" altLang="zh-CN" smtClean="0"/>
          </a:p>
          <a:p>
            <a:r>
              <a:rPr lang="zh-CN" altLang="en-US" smtClean="0"/>
              <a:t>对比去雨前后</a:t>
            </a:r>
            <a:r>
              <a:rPr lang="en-US" altLang="zh-CN" smtClean="0"/>
              <a:t>reid</a:t>
            </a:r>
            <a:r>
              <a:rPr lang="zh-CN" altLang="en-US" smtClean="0"/>
              <a:t>性能变化</a:t>
            </a:r>
            <a:endParaRPr lang="en-US" altLang="zh-CN" smtClean="0"/>
          </a:p>
          <a:p>
            <a:r>
              <a:rPr lang="en-US" altLang="zh-CN" smtClean="0"/>
              <a:t>Reid</a:t>
            </a:r>
            <a:r>
              <a:rPr lang="zh-CN" altLang="en-US" smtClean="0"/>
              <a:t>网络使用</a:t>
            </a:r>
            <a:r>
              <a:rPr lang="en-US" altLang="zh-CN" b="1"/>
              <a:t>Bag of Tricks and A Strong ReID Baseline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302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RAIN200L_REID </a:t>
            </a:r>
            <a:r>
              <a:rPr lang="zh-CN" altLang="en-US" smtClean="0"/>
              <a:t>展示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342" y="1903728"/>
            <a:ext cx="4386999" cy="2927705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74" y="1908742"/>
            <a:ext cx="4379485" cy="292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09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RAIN200H_REID </a:t>
            </a:r>
            <a:r>
              <a:rPr lang="zh-CN" altLang="en-US"/>
              <a:t>展示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59880"/>
            <a:ext cx="4581525" cy="3057525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87" y="2259880"/>
            <a:ext cx="458152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5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Market1501-light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578" y="1892242"/>
            <a:ext cx="609600" cy="1219200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985" y="1892242"/>
            <a:ext cx="609600" cy="1219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480" y="1892242"/>
            <a:ext cx="609600" cy="1219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029" y="1892242"/>
            <a:ext cx="609600" cy="1219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578" y="4248307"/>
            <a:ext cx="609600" cy="12192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985" y="4240864"/>
            <a:ext cx="609600" cy="12192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480" y="4240864"/>
            <a:ext cx="609600" cy="12192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029" y="4248307"/>
            <a:ext cx="609600" cy="12192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708636" y="5792618"/>
            <a:ext cx="344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去</a:t>
            </a:r>
            <a:r>
              <a:rPr lang="zh-CN" altLang="en-US" smtClean="0"/>
              <a:t>雨后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08636" y="3303100"/>
            <a:ext cx="344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去雨前</a:t>
            </a:r>
          </a:p>
        </p:txBody>
      </p:sp>
    </p:spTree>
    <p:extLst>
      <p:ext uri="{BB962C8B-B14F-4D97-AF65-F5344CB8AC3E}">
        <p14:creationId xmlns:p14="http://schemas.microsoft.com/office/powerpoint/2010/main" val="114844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Market1501-heavy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708636" y="5792618"/>
            <a:ext cx="344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去</a:t>
            </a:r>
            <a:r>
              <a:rPr lang="zh-CN" altLang="en-US" smtClean="0"/>
              <a:t>雨后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08636" y="3303100"/>
            <a:ext cx="344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去雨前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578" y="1813267"/>
            <a:ext cx="609600" cy="12192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985" y="1813267"/>
            <a:ext cx="609600" cy="12192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480" y="1813267"/>
            <a:ext cx="609600" cy="12192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029" y="1813267"/>
            <a:ext cx="609600" cy="12192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578" y="4178909"/>
            <a:ext cx="609600" cy="12192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985" y="4178909"/>
            <a:ext cx="609600" cy="12192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480" y="4178909"/>
            <a:ext cx="609600" cy="12192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029" y="4178909"/>
            <a:ext cx="6096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24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8442460"/>
              </p:ext>
            </p:extLst>
          </p:nvPr>
        </p:nvGraphicFramePr>
        <p:xfrm>
          <a:off x="646815" y="124416"/>
          <a:ext cx="1091148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62">
                  <a:extLst>
                    <a:ext uri="{9D8B030D-6E8A-4147-A177-3AD203B41FA5}">
                      <a16:colId xmlns:a16="http://schemas.microsoft.com/office/drawing/2014/main" val="4039453109"/>
                    </a:ext>
                  </a:extLst>
                </a:gridCol>
                <a:gridCol w="3637162">
                  <a:extLst>
                    <a:ext uri="{9D8B030D-6E8A-4147-A177-3AD203B41FA5}">
                      <a16:colId xmlns:a16="http://schemas.microsoft.com/office/drawing/2014/main" val="1496250288"/>
                    </a:ext>
                  </a:extLst>
                </a:gridCol>
                <a:gridCol w="3637162">
                  <a:extLst>
                    <a:ext uri="{9D8B030D-6E8A-4147-A177-3AD203B41FA5}">
                      <a16:colId xmlns:a16="http://schemas.microsoft.com/office/drawing/2014/main" val="621682548"/>
                    </a:ext>
                  </a:extLst>
                </a:gridCol>
              </a:tblGrid>
              <a:tr h="27189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Rank1 %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mAP %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30275"/>
                  </a:ext>
                </a:extLst>
              </a:tr>
              <a:tr h="271895">
                <a:tc>
                  <a:txBody>
                    <a:bodyPr/>
                    <a:lstStyle/>
                    <a:p>
                      <a:r>
                        <a:rPr lang="en-US" altLang="zh-CN" smtClean="0"/>
                        <a:t>original </a:t>
                      </a:r>
                      <a:r>
                        <a:rPr lang="en-US" altLang="zh-CN" smtClean="0"/>
                        <a:t>dataset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95.4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94.2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059355"/>
                  </a:ext>
                </a:extLst>
              </a:tr>
              <a:tr h="27189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reid_rain_light</a:t>
                      </a:r>
                      <a:endParaRPr lang="zh-CN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90.5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87.8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330911"/>
                  </a:ext>
                </a:extLst>
              </a:tr>
              <a:tr h="2718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reid_rain_light(derain)</a:t>
                      </a:r>
                      <a:endParaRPr lang="zh-CN" altLang="en-US" sz="1800" kern="120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mtClean="0"/>
                        <a:t>95.5</a:t>
                      </a:r>
                      <a:r>
                        <a:rPr lang="zh-CN" altLang="en-US" smtClean="0"/>
                        <a:t>（</a:t>
                      </a:r>
                      <a:r>
                        <a:rPr lang="en-US" altLang="zh-CN" smtClean="0">
                          <a:solidFill>
                            <a:srgbClr val="FF0000"/>
                          </a:solidFill>
                        </a:rPr>
                        <a:t>5.0</a:t>
                      </a:r>
                      <a:r>
                        <a:rPr lang="zh-CN" altLang="en-US" smtClean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93.9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7614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reid_rain_heavy</a:t>
                      </a:r>
                      <a:endParaRPr lang="zh-CN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68.3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55.2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102854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reid_rain_heavy(derain)</a:t>
                      </a:r>
                      <a:endParaRPr lang="zh-CN" altLang="en-US" sz="1800" kern="120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94.1</a:t>
                      </a:r>
                      <a:r>
                        <a:rPr lang="zh-CN" altLang="en-US" smtClean="0"/>
                        <a:t>（</a:t>
                      </a:r>
                      <a:r>
                        <a:rPr lang="en-US" altLang="zh-CN" smtClean="0">
                          <a:solidFill>
                            <a:srgbClr val="FF0000"/>
                          </a:solidFill>
                        </a:rPr>
                        <a:t>25.8</a:t>
                      </a:r>
                      <a:r>
                        <a:rPr lang="zh-CN" altLang="en-US" smtClean="0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92.3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478579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655537"/>
              </p:ext>
            </p:extLst>
          </p:nvPr>
        </p:nvGraphicFramePr>
        <p:xfrm>
          <a:off x="1323045" y="4276326"/>
          <a:ext cx="890157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1259">
                  <a:extLst>
                    <a:ext uri="{9D8B030D-6E8A-4147-A177-3AD203B41FA5}">
                      <a16:colId xmlns:a16="http://schemas.microsoft.com/office/drawing/2014/main" val="3893293536"/>
                    </a:ext>
                  </a:extLst>
                </a:gridCol>
                <a:gridCol w="1020726">
                  <a:extLst>
                    <a:ext uri="{9D8B030D-6E8A-4147-A177-3AD203B41FA5}">
                      <a16:colId xmlns:a16="http://schemas.microsoft.com/office/drawing/2014/main" val="151287951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971716998"/>
                    </a:ext>
                  </a:extLst>
                </a:gridCol>
                <a:gridCol w="1879836">
                  <a:extLst>
                    <a:ext uri="{9D8B030D-6E8A-4147-A177-3AD203B41FA5}">
                      <a16:colId xmlns:a16="http://schemas.microsoft.com/office/drawing/2014/main" val="3248356650"/>
                    </a:ext>
                  </a:extLst>
                </a:gridCol>
                <a:gridCol w="1905355">
                  <a:extLst>
                    <a:ext uri="{9D8B030D-6E8A-4147-A177-3AD203B41FA5}">
                      <a16:colId xmlns:a16="http://schemas.microsoft.com/office/drawing/2014/main" val="38176937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market1501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PSNR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SSIM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mtClean="0"/>
                        <a:t>PSNR</a:t>
                      </a:r>
                      <a:r>
                        <a:rPr lang="en-US" altLang="zh-CN" smtClean="0"/>
                        <a:t>_original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mtClean="0"/>
                        <a:t>SSIM</a:t>
                      </a:r>
                      <a:r>
                        <a:rPr lang="en-US" altLang="zh-CN" smtClean="0"/>
                        <a:t>_original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78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query_light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29.027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0.8971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18.673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0.5960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68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bounding_box_test_light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29.524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0.9018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18.699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0.5740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766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query_heavy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35.020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0.9607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27.332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0.8168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45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bounding_box_test_heavy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35.510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0.9611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27.324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0.8002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731789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948503"/>
              </p:ext>
            </p:extLst>
          </p:nvPr>
        </p:nvGraphicFramePr>
        <p:xfrm>
          <a:off x="2760567" y="2741391"/>
          <a:ext cx="511638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1259">
                  <a:extLst>
                    <a:ext uri="{9D8B030D-6E8A-4147-A177-3AD203B41FA5}">
                      <a16:colId xmlns:a16="http://schemas.microsoft.com/office/drawing/2014/main" val="751991732"/>
                    </a:ext>
                  </a:extLst>
                </a:gridCol>
                <a:gridCol w="1020726">
                  <a:extLst>
                    <a:ext uri="{9D8B030D-6E8A-4147-A177-3AD203B41FA5}">
                      <a16:colId xmlns:a16="http://schemas.microsoft.com/office/drawing/2014/main" val="72533246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434887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PSNR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SSIM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752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RAIN200L_REID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34.360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0.9421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17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RAIN200H_REID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29.423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0.8717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408265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150951" y="2318976"/>
            <a:ext cx="4410385" cy="37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Reid</a:t>
            </a:r>
            <a:r>
              <a:rPr lang="zh-CN" altLang="en-US" smtClean="0"/>
              <a:t>网络前后性能变化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904816" y="3853911"/>
            <a:ext cx="565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在</a:t>
            </a:r>
            <a:r>
              <a:rPr lang="en-US" altLang="zh-CN" smtClean="0"/>
              <a:t>RAIN200L_REID</a:t>
            </a:r>
            <a:r>
              <a:rPr lang="zh-CN" altLang="en-US" smtClean="0"/>
              <a:t>和</a:t>
            </a:r>
            <a:r>
              <a:rPr lang="en-US" altLang="zh-CN" smtClean="0"/>
              <a:t>RAIN200H_REID</a:t>
            </a:r>
            <a:r>
              <a:rPr lang="zh-CN" altLang="en-US" smtClean="0"/>
              <a:t>上去雨结果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691456" y="6187304"/>
            <a:ext cx="565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在</a:t>
            </a:r>
            <a:r>
              <a:rPr lang="en-US" altLang="zh-CN" smtClean="0"/>
              <a:t>market1501</a:t>
            </a:r>
            <a:r>
              <a:rPr lang="zh-CN" altLang="en-US" smtClean="0"/>
              <a:t>上去雨前后保真度对比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000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实验总结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通过</a:t>
            </a:r>
            <a:r>
              <a:rPr lang="en-US" altLang="zh-CN" smtClean="0"/>
              <a:t>prenet</a:t>
            </a:r>
            <a:r>
              <a:rPr lang="zh-CN" altLang="en-US" smtClean="0"/>
              <a:t>进行去雨后，</a:t>
            </a:r>
            <a:r>
              <a:rPr lang="en-US" altLang="zh-CN" smtClean="0"/>
              <a:t>reid</a:t>
            </a:r>
            <a:r>
              <a:rPr lang="zh-CN" altLang="en-US" smtClean="0"/>
              <a:t>网络性能在</a:t>
            </a:r>
            <a:r>
              <a:rPr lang="en-US" altLang="zh-CN" smtClean="0"/>
              <a:t>light</a:t>
            </a:r>
            <a:r>
              <a:rPr lang="zh-CN" altLang="en-US" smtClean="0"/>
              <a:t>情况下基本不变，在</a:t>
            </a:r>
            <a:r>
              <a:rPr lang="en-US" altLang="zh-CN" smtClean="0"/>
              <a:t>heavy</a:t>
            </a:r>
            <a:r>
              <a:rPr lang="zh-CN" altLang="en-US" smtClean="0"/>
              <a:t>情况下下降了一个点，去雨对于性能保持有效。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46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附录</a:t>
            </a:r>
            <a:endParaRPr lang="zh-CN" altLang="en-US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/>
          </p:nvPr>
        </p:nvGraphicFramePr>
        <p:xfrm>
          <a:off x="710609" y="1400323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411629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388618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90721477"/>
                    </a:ext>
                  </a:extLst>
                </a:gridCol>
              </a:tblGrid>
              <a:tr h="27189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Rank1 %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mAP %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005999"/>
                  </a:ext>
                </a:extLst>
              </a:tr>
              <a:tr h="271895">
                <a:tc>
                  <a:txBody>
                    <a:bodyPr/>
                    <a:lstStyle/>
                    <a:p>
                      <a:r>
                        <a:rPr lang="en-US" altLang="zh-CN" smtClean="0"/>
                        <a:t>Original dataset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95.4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94.2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749400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r>
                        <a:rPr lang="en-US" altLang="zh-CN" sz="1200" smtClean="0"/>
                        <a:t>rainy_query_density-4,-3_intensity0.8,0.9_streaklen20,30-40_rainsize1.5,1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48.6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33.1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877236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r>
                        <a:rPr lang="en-US" altLang="zh-CN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rainy_query_density-7,-6_intensity0.4,0.5_streaklen2,0,5_rainsize1.01,0.3</a:t>
                      </a:r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95.4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94.0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298327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r>
                        <a:rPr lang="en-US" altLang="zh-CN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rainy_query_density-6,-5_intensity0.6,0.7_streaklen2,0,5_rainsize1.01,0.3</a:t>
                      </a:r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95.0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93.3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47527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r>
                        <a:rPr lang="en-US" altLang="zh-CN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rainy_query_density-4,-3_intensity0.6,0.7_streaklen2,0,5_rainsize1.01,0.3</a:t>
                      </a:r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91.4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88.3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11802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r>
                        <a:rPr lang="en-US" altLang="zh-CN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rainy_query_density-4,-3_intensity0.6,0.7_streaklen5,0,5_rainsize1.01,0.3</a:t>
                      </a:r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90.5</a:t>
                      </a:r>
                      <a:endParaRPr lang="zh-CN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87.8</a:t>
                      </a:r>
                      <a:endParaRPr lang="zh-CN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611203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r>
                        <a:rPr lang="en-US" altLang="zh-CN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rainy_query_density-4,-3_intensity0.9,1.0_streaklen5,0,5_rainsize1.01,0.3</a:t>
                      </a:r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84.2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78.1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77018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r>
                        <a:rPr lang="en-US" altLang="zh-CN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rainy_query_density-5,-4_intensity0.9,1.0_streaklen5,5,10_rainsize1.01,0.3</a:t>
                      </a:r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87.4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83.3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832025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r>
                        <a:rPr lang="en-US" altLang="zh-CN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rainy_query_density-5,-4_intensity1.0,1.1_streaklen5,5,10_rainsize1.01,0.5</a:t>
                      </a:r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84.9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79.2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980947"/>
                  </a:ext>
                </a:extLst>
              </a:tr>
              <a:tr h="469299">
                <a:tc>
                  <a:txBody>
                    <a:bodyPr/>
                    <a:lstStyle/>
                    <a:p>
                      <a:r>
                        <a:rPr lang="en-US" altLang="zh-CN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rainy_query_density-6,-5.5_intensity1.2,1.3_streaklen5,5,10_rainsize1.01,0.5</a:t>
                      </a:r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88.4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mtClean="0"/>
                        <a:t>84.3</a:t>
                      </a:r>
                      <a:endParaRPr lang="zh-CN" altLang="en-US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595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141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3"/>
          <p:cNvGraphicFramePr>
            <a:graphicFrameLocks/>
          </p:cNvGraphicFramePr>
          <p:nvPr>
            <p:extLst/>
          </p:nvPr>
        </p:nvGraphicFramePr>
        <p:xfrm>
          <a:off x="640257" y="1464118"/>
          <a:ext cx="10911486" cy="4401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62">
                  <a:extLst>
                    <a:ext uri="{9D8B030D-6E8A-4147-A177-3AD203B41FA5}">
                      <a16:colId xmlns:a16="http://schemas.microsoft.com/office/drawing/2014/main" val="4241162906"/>
                    </a:ext>
                  </a:extLst>
                </a:gridCol>
                <a:gridCol w="3637162">
                  <a:extLst>
                    <a:ext uri="{9D8B030D-6E8A-4147-A177-3AD203B41FA5}">
                      <a16:colId xmlns:a16="http://schemas.microsoft.com/office/drawing/2014/main" val="3738861809"/>
                    </a:ext>
                  </a:extLst>
                </a:gridCol>
                <a:gridCol w="3637162">
                  <a:extLst>
                    <a:ext uri="{9D8B030D-6E8A-4147-A177-3AD203B41FA5}">
                      <a16:colId xmlns:a16="http://schemas.microsoft.com/office/drawing/2014/main" val="990721477"/>
                    </a:ext>
                  </a:extLst>
                </a:gridCol>
              </a:tblGrid>
              <a:tr h="27189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Rank1 %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mAP %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005999"/>
                  </a:ext>
                </a:extLst>
              </a:tr>
              <a:tr h="271895">
                <a:tc>
                  <a:txBody>
                    <a:bodyPr/>
                    <a:lstStyle/>
                    <a:p>
                      <a:r>
                        <a:rPr lang="en-US" altLang="zh-CN" smtClean="0"/>
                        <a:t>Original dataset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95.4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94.2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749400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r>
                        <a:rPr lang="en-US" altLang="zh-CN" sz="1200" smtClean="0"/>
                        <a:t>rainy_query_density-5,-4_intensity1.2,1.3_streaklen5,5,10_rainsize1.01,0.5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79.6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71.5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877236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r>
                        <a:rPr lang="en-US" altLang="zh-CN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rainy_query_density-7,-6_intensity1.2,1.3_streaklen10,10,20_rainsize1.01,0.5</a:t>
                      </a:r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87.1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82.0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298327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r>
                        <a:rPr lang="en-US" altLang="zh-CN" sz="12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rainy_query_density-5,-4_intensity1.2,1.3_streaklen10,10,20_rainsize1.01,0.5</a:t>
                      </a:r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68.3</a:t>
                      </a:r>
                      <a:endParaRPr lang="zh-CN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55.2</a:t>
                      </a:r>
                      <a:endParaRPr lang="zh-CN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047527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11802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611203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77018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832025"/>
                  </a:ext>
                </a:extLst>
              </a:tr>
              <a:tr h="335214">
                <a:tc>
                  <a:txBody>
                    <a:bodyPr/>
                    <a:lstStyle/>
                    <a:p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980947"/>
                  </a:ext>
                </a:extLst>
              </a:tr>
              <a:tr h="469299">
                <a:tc>
                  <a:txBody>
                    <a:bodyPr/>
                    <a:lstStyle/>
                    <a:p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595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186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</TotalTime>
  <Words>263</Words>
  <Application>Microsoft Office PowerPoint</Application>
  <PresentationFormat>宽屏</PresentationFormat>
  <Paragraphs>118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去雨&amp;reid</vt:lpstr>
      <vt:lpstr>实验设计</vt:lpstr>
      <vt:lpstr>RAIN200L_REID 展示</vt:lpstr>
      <vt:lpstr>RAIN200H_REID 展示</vt:lpstr>
      <vt:lpstr>Market1501-light</vt:lpstr>
      <vt:lpstr>Market1501-heavy</vt:lpstr>
      <vt:lpstr>PowerPoint 演示文稿</vt:lpstr>
      <vt:lpstr>实验总结</vt:lpstr>
      <vt:lpstr>附录</vt:lpstr>
      <vt:lpstr>PowerPoint 演示文稿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Reading</dc:title>
  <dc:creator>19938</dc:creator>
  <cp:lastModifiedBy>19938</cp:lastModifiedBy>
  <cp:revision>101</cp:revision>
  <dcterms:created xsi:type="dcterms:W3CDTF">2021-06-17T18:07:23Z</dcterms:created>
  <dcterms:modified xsi:type="dcterms:W3CDTF">2021-07-06T06:43:34Z</dcterms:modified>
</cp:coreProperties>
</file>