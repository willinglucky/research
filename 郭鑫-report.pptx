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3" r:id="rId3"/>
    <p:sldId id="265" r:id="rId4"/>
    <p:sldId id="26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32DDD3-E3AF-4305-872D-38CD81EA0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6C68C0-3CA7-4489-8D3C-ACAE7BEBD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AA69E-20EE-40F3-AAFC-C433AA13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5A1E-446D-4A08-B738-750D33D80206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0A3EA3-B18B-4512-9B46-015C86A7B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F4B15D-5C8D-4DFD-9085-C6916EBB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20F9-B87B-4DB3-A931-68C917E3F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07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5B77EC-1C21-4078-BBAB-E9A6951B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F2860A-D698-41D3-9A00-F3FBD6B92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41B182-809C-455F-BF75-5F6A3AC68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5A1E-446D-4A08-B738-750D33D80206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1506E7-D274-4DF3-9D96-BCBFD31C8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0D666B-0DC9-405E-BC8E-73E295D2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20F9-B87B-4DB3-A931-68C917E3F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914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ADC40-FBA0-43B1-A178-27878F66C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4932E3-9B5E-4DC0-96F9-277274700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E89259-0D11-4C09-B967-6098112C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5A1E-446D-4A08-B738-750D33D80206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AF0999-C7D6-4194-936B-8B81E4513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29DF5E-EDE6-4B0E-A1A3-0296F4899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20F9-B87B-4DB3-A931-68C917E3F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24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B5F755-1D13-49A6-AD04-CFB45CDCF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0CB93C-EF5A-4229-B2FC-1F22A76FA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3F2DA4-BFE4-4FEF-9BF8-8D3F41113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095BA6-FBEA-4535-9E78-E9FAB8DBC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5A1E-446D-4A08-B738-750D33D80206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27CAE6-2CCB-451E-8D4E-DBEE5ACD0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F8AAE9-A6E2-4E1C-9453-981DDD02E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20F9-B87B-4DB3-A931-68C917E3F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1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C64FA1-94C1-4D10-B1EC-A53AB8E6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257CD1-9332-4A27-A885-8F76B983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B8F5A4-4B2C-4677-9DF6-D745C7D74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56E4E1-9F8C-4D89-BB73-0ED6944D25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485849-C1D2-45A4-9122-66F77074E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869ABD-F147-45FF-BB87-0E4DBE0B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5A1E-446D-4A08-B738-750D33D80206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E1E787-5BE4-4089-8605-99B4FD688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F6F55E-48AB-4FCB-872C-244DC1AD4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20F9-B87B-4DB3-A931-68C917E3F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73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0E38A-F864-4198-BBDF-811101E8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FC81FC-F9D3-4D83-97F1-EF8727A6A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5A1E-446D-4A08-B738-750D33D80206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E011BE-B831-4A3A-9D94-DF5B3A1D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5A6107-A460-4424-AAE4-973B5A93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20F9-B87B-4DB3-A931-68C917E3F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184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ABEFFE-C287-4B8A-991D-26721AB8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5A1E-446D-4A08-B738-750D33D80206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037229-4E5B-407B-8E7C-25EEAEC58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31F3BB-571D-474E-BF96-0B6FA1DE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20F9-B87B-4DB3-A931-68C917E3F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035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E686-D2BB-4BB1-9E61-00D18D89A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C09ECE-4F46-4454-AE73-A99A73F12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F03AAB-2B0C-42B9-AC79-0CF4EC044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B86946-D3E8-404D-A094-F43430245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5A1E-446D-4A08-B738-750D33D80206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9BF583-FA98-464E-9809-9C51D2C99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587C2E-AA58-446C-90D5-0E45E50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20F9-B87B-4DB3-A931-68C917E3F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710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DC20B-7995-409B-828D-213F5AD0D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9C8A7F-69F1-4E78-86ED-0F0CE142E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25C43A-F07F-4F40-9D99-FC1E6F88A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29B65D-8D7A-4B1F-9D8E-12DD9A6AA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5A1E-446D-4A08-B738-750D33D80206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828CF6-4EE0-451E-AB3B-AFD09F240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4BDDE8-5317-4A59-913C-8328D65AA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20F9-B87B-4DB3-A931-68C917E3F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52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5556F-E9B0-4264-A790-8788FF957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D2C316-8BBD-4793-B430-75BB01461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86119E-F927-4025-BB25-03E3CB164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5A1E-446D-4A08-B738-750D33D80206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58DF61-2A0C-4F4B-B9C9-1539DE58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7791C3-85EB-44B4-BD0C-7348F76F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20F9-B87B-4DB3-A931-68C917E3F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321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A80266-DB53-4B74-9786-28EB35AD7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508CB8-A10F-4240-9107-805A28BE7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586ED7-6D82-4ABA-98D3-B0175CADC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75A1E-446D-4A08-B738-750D33D80206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A0271A-7D49-41EC-817D-83AC23459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4FD7C-EC2B-4A87-8D61-B3F7010DC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20F9-B87B-4DB3-A931-68C917E3F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7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D192F5-8981-4857-905A-A1265ED6F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E0C9C9-5A52-4C46-95FF-380EAB2BF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85B49F-704D-4FFF-8264-6494C5967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75A1E-446D-4A08-B738-750D33D80206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00A395-C24D-4289-82E3-EF3652AEC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F1B11C-5DCA-48DE-8864-B55853392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720F9-B87B-4DB3-A931-68C917E3F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895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Unsupervised Degradation Representation Learning for Blind </a:t>
            </a:r>
            <a:r>
              <a:rPr lang="en-US" altLang="zh-CN" smtClean="0"/>
              <a:t>Super-Resolution</a:t>
            </a:r>
            <a:r>
              <a:rPr lang="zh-CN" altLang="en-US" smtClean="0"/>
              <a:t>（</a:t>
            </a:r>
            <a:r>
              <a:rPr lang="en-US" altLang="zh-CN" smtClean="0"/>
              <a:t>cvpr 2021</a:t>
            </a:r>
            <a:r>
              <a:rPr lang="zh-CN" altLang="en-US" smtClean="0"/>
              <a:t>）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6935" y="1690688"/>
            <a:ext cx="6097269" cy="291413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36914" y="4973216"/>
            <a:ext cx="8500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每个超分辨重建的数据集的降质过程不一致，会导致模型在</a:t>
            </a:r>
            <a:r>
              <a:rPr lang="en-US" altLang="zh-CN" smtClean="0"/>
              <a:t>A</a:t>
            </a:r>
            <a:r>
              <a:rPr lang="zh-CN" altLang="en-US" smtClean="0"/>
              <a:t>上面训了，</a:t>
            </a:r>
            <a:r>
              <a:rPr lang="en-US" altLang="zh-CN" smtClean="0"/>
              <a:t>B</a:t>
            </a:r>
            <a:r>
              <a:rPr lang="zh-CN" altLang="en-US" smtClean="0"/>
              <a:t>上面效果不好。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033" y="5641346"/>
            <a:ext cx="2915444" cy="69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31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98" y="637332"/>
            <a:ext cx="9838273" cy="41837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53" y="5236851"/>
            <a:ext cx="3817951" cy="76968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96892" y="5236851"/>
            <a:ext cx="5784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选</a:t>
            </a:r>
            <a:r>
              <a:rPr lang="en-US" altLang="zh-CN" smtClean="0"/>
              <a:t>32</a:t>
            </a:r>
            <a:r>
              <a:rPr lang="zh-CN" altLang="en-US" smtClean="0"/>
              <a:t>张高分辨率图片，用</a:t>
            </a:r>
            <a:r>
              <a:rPr lang="en-US" altLang="zh-CN" smtClean="0"/>
              <a:t>32</a:t>
            </a:r>
            <a:r>
              <a:rPr lang="zh-CN" altLang="en-US" smtClean="0"/>
              <a:t>个随机的高斯核进行模糊，然后下采样，进行</a:t>
            </a:r>
            <a:r>
              <a:rPr lang="en-US" altLang="zh-CN" smtClean="0"/>
              <a:t>crop</a:t>
            </a:r>
            <a:r>
              <a:rPr lang="zh-CN" altLang="en-US" smtClean="0"/>
              <a:t>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975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087" y="932873"/>
            <a:ext cx="1065060" cy="71077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65" y="1026700"/>
            <a:ext cx="2133744" cy="1423975"/>
          </a:xfrm>
          <a:prstGeom prst="rect">
            <a:avLst/>
          </a:prstGeom>
        </p:spPr>
      </p:pic>
      <p:sp>
        <p:nvSpPr>
          <p:cNvPr id="11" name="梯形 10"/>
          <p:cNvSpPr/>
          <p:nvPr/>
        </p:nvSpPr>
        <p:spPr>
          <a:xfrm rot="5400000">
            <a:off x="4495799" y="1041400"/>
            <a:ext cx="1551709" cy="1334655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626159" y="1474455"/>
            <a:ext cx="140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mtClean="0"/>
              <a:t>Encoder</a:t>
            </a:r>
            <a:endParaRPr lang="zh-CN" altLang="en-US" sz="2400"/>
          </a:p>
        </p:txBody>
      </p:sp>
      <p:cxnSp>
        <p:nvCxnSpPr>
          <p:cNvPr id="14" name="直接箭头连接符 13"/>
          <p:cNvCxnSpPr>
            <a:stCxn id="10" idx="3"/>
            <a:endCxn id="9" idx="1"/>
          </p:cNvCxnSpPr>
          <p:nvPr/>
        </p:nvCxnSpPr>
        <p:spPr>
          <a:xfrm flipV="1">
            <a:off x="2262909" y="1288262"/>
            <a:ext cx="341178" cy="450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右箭头 16"/>
          <p:cNvSpPr/>
          <p:nvPr/>
        </p:nvSpPr>
        <p:spPr>
          <a:xfrm>
            <a:off x="3980873" y="1479762"/>
            <a:ext cx="623453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341" y="1775975"/>
            <a:ext cx="1061806" cy="708607"/>
          </a:xfrm>
          <a:prstGeom prst="rect">
            <a:avLst/>
          </a:prstGeom>
        </p:spPr>
      </p:pic>
      <p:cxnSp>
        <p:nvCxnSpPr>
          <p:cNvPr id="24" name="直接箭头连接符 23"/>
          <p:cNvCxnSpPr>
            <a:stCxn id="10" idx="3"/>
            <a:endCxn id="19" idx="1"/>
          </p:cNvCxnSpPr>
          <p:nvPr/>
        </p:nvCxnSpPr>
        <p:spPr>
          <a:xfrm>
            <a:off x="2262909" y="1738688"/>
            <a:ext cx="344432" cy="391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3754787" y="1088114"/>
            <a:ext cx="84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mask1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754786" y="1951118"/>
            <a:ext cx="84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mask2</a:t>
            </a:r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299201" y="1357372"/>
            <a:ext cx="1579418" cy="20014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299201" y="1930130"/>
            <a:ext cx="1579418" cy="2001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9898558" y="1557520"/>
            <a:ext cx="99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正样本</a:t>
            </a:r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8145423" y="1845538"/>
            <a:ext cx="128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雨带表征</a:t>
            </a:r>
            <a:r>
              <a:rPr lang="en-US" altLang="zh-CN"/>
              <a:t>2</a:t>
            </a:r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087" y="3311236"/>
            <a:ext cx="1065060" cy="710778"/>
          </a:xfrm>
          <a:prstGeom prst="rect">
            <a:avLst/>
          </a:prstGeom>
        </p:spPr>
      </p:pic>
      <p:sp>
        <p:nvSpPr>
          <p:cNvPr id="53" name="梯形 52"/>
          <p:cNvSpPr/>
          <p:nvPr/>
        </p:nvSpPr>
        <p:spPr>
          <a:xfrm rot="5400000">
            <a:off x="4495799" y="3419763"/>
            <a:ext cx="1551709" cy="1334655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4626159" y="3852818"/>
            <a:ext cx="140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mtClean="0"/>
              <a:t>Encoder</a:t>
            </a:r>
            <a:endParaRPr lang="zh-CN" altLang="en-US" sz="2400"/>
          </a:p>
        </p:txBody>
      </p:sp>
      <p:cxnSp>
        <p:nvCxnSpPr>
          <p:cNvPr id="55" name="直接箭头连接符 54"/>
          <p:cNvCxnSpPr>
            <a:endCxn id="51" idx="1"/>
          </p:cNvCxnSpPr>
          <p:nvPr/>
        </p:nvCxnSpPr>
        <p:spPr>
          <a:xfrm flipV="1">
            <a:off x="2262909" y="3666625"/>
            <a:ext cx="341178" cy="450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右箭头 55"/>
          <p:cNvSpPr/>
          <p:nvPr/>
        </p:nvSpPr>
        <p:spPr>
          <a:xfrm>
            <a:off x="3980873" y="3858125"/>
            <a:ext cx="623453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341" y="4154338"/>
            <a:ext cx="1061806" cy="708607"/>
          </a:xfrm>
          <a:prstGeom prst="rect">
            <a:avLst/>
          </a:prstGeom>
        </p:spPr>
      </p:pic>
      <p:cxnSp>
        <p:nvCxnSpPr>
          <p:cNvPr id="58" name="直接箭头连接符 57"/>
          <p:cNvCxnSpPr>
            <a:endCxn id="57" idx="1"/>
          </p:cNvCxnSpPr>
          <p:nvPr/>
        </p:nvCxnSpPr>
        <p:spPr>
          <a:xfrm>
            <a:off x="2262909" y="4117051"/>
            <a:ext cx="344432" cy="391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3754787" y="3466477"/>
            <a:ext cx="84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mask1</a:t>
            </a:r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3754786" y="4329481"/>
            <a:ext cx="84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mask2</a:t>
            </a:r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6299201" y="3735735"/>
            <a:ext cx="1579418" cy="2001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6299201" y="4308493"/>
            <a:ext cx="1579418" cy="2001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8145422" y="3651143"/>
            <a:ext cx="159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雨带表征</a:t>
            </a:r>
            <a:r>
              <a:rPr lang="en-US" altLang="zh-CN" smtClean="0"/>
              <a:t>1~</a:t>
            </a:r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8145422" y="4223901"/>
            <a:ext cx="1414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雨带表征</a:t>
            </a:r>
            <a:r>
              <a:rPr lang="en-US" altLang="zh-CN" smtClean="0"/>
              <a:t>2~</a:t>
            </a:r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09" y="3542571"/>
            <a:ext cx="2010167" cy="1341504"/>
          </a:xfrm>
          <a:prstGeom prst="rect">
            <a:avLst/>
          </a:prstGeom>
        </p:spPr>
      </p:pic>
      <p:sp>
        <p:nvSpPr>
          <p:cNvPr id="66" name="矩形 65"/>
          <p:cNvSpPr/>
          <p:nvPr/>
        </p:nvSpPr>
        <p:spPr>
          <a:xfrm rot="5400000">
            <a:off x="8954654" y="2652788"/>
            <a:ext cx="1579418" cy="20014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 rot="5400000">
            <a:off x="9506262" y="2652788"/>
            <a:ext cx="1579418" cy="2001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 rot="5400000">
            <a:off x="10489935" y="2652788"/>
            <a:ext cx="1579418" cy="2001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 rot="5400000">
            <a:off x="10947134" y="2647900"/>
            <a:ext cx="1579418" cy="2001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" name="直接箭头连接符 70"/>
          <p:cNvCxnSpPr>
            <a:stCxn id="66" idx="0"/>
          </p:cNvCxnSpPr>
          <p:nvPr/>
        </p:nvCxnSpPr>
        <p:spPr>
          <a:xfrm>
            <a:off x="9844437" y="2752862"/>
            <a:ext cx="167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67" idx="2"/>
          </p:cNvCxnSpPr>
          <p:nvPr/>
        </p:nvCxnSpPr>
        <p:spPr>
          <a:xfrm flipH="1">
            <a:off x="10012218" y="2752862"/>
            <a:ext cx="1836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67" idx="0"/>
            <a:endCxn id="68" idx="2"/>
          </p:cNvCxnSpPr>
          <p:nvPr/>
        </p:nvCxnSpPr>
        <p:spPr>
          <a:xfrm>
            <a:off x="10396045" y="2752862"/>
            <a:ext cx="7835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>
          <a:xfrm>
            <a:off x="8177338" y="1301161"/>
            <a:ext cx="128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雨带表征</a:t>
            </a:r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11045866" y="1554021"/>
            <a:ext cx="99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负</a:t>
            </a:r>
            <a:r>
              <a:rPr lang="zh-CN" altLang="en-US" smtClean="0"/>
              <a:t>样本</a:t>
            </a:r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3669147" y="5441266"/>
            <a:ext cx="5817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First stage </a:t>
            </a:r>
            <a:r>
              <a:rPr lang="zh-CN" altLang="en-US" smtClean="0"/>
              <a:t>预训练</a:t>
            </a:r>
            <a:r>
              <a:rPr lang="en-US" altLang="zh-CN" smtClean="0"/>
              <a:t>encoder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53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梯形 2"/>
          <p:cNvSpPr/>
          <p:nvPr/>
        </p:nvSpPr>
        <p:spPr>
          <a:xfrm rot="5400000">
            <a:off x="4096964" y="516106"/>
            <a:ext cx="1551709" cy="1334655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227324" y="949161"/>
            <a:ext cx="140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mtClean="0"/>
              <a:t>Encoder</a:t>
            </a:r>
            <a:endParaRPr lang="zh-CN" altLang="en-US" sz="2400"/>
          </a:p>
        </p:txBody>
      </p:sp>
      <p:sp>
        <p:nvSpPr>
          <p:cNvPr id="5" name="矩形 4"/>
          <p:cNvSpPr/>
          <p:nvPr/>
        </p:nvSpPr>
        <p:spPr>
          <a:xfrm>
            <a:off x="5981034" y="1079919"/>
            <a:ext cx="1579418" cy="20014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636" y="735876"/>
            <a:ext cx="1330967" cy="888234"/>
          </a:xfrm>
          <a:prstGeom prst="rect">
            <a:avLst/>
          </a:prstGeom>
        </p:spPr>
      </p:pic>
      <p:cxnSp>
        <p:nvCxnSpPr>
          <p:cNvPr id="8" name="直接箭头连接符 7"/>
          <p:cNvCxnSpPr>
            <a:stCxn id="6" idx="3"/>
            <a:endCxn id="4" idx="1"/>
          </p:cNvCxnSpPr>
          <p:nvPr/>
        </p:nvCxnSpPr>
        <p:spPr>
          <a:xfrm>
            <a:off x="3764603" y="1179993"/>
            <a:ext cx="46272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992152" y="2935982"/>
            <a:ext cx="3557181" cy="846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Derain network</a:t>
            </a:r>
            <a:endParaRPr lang="zh-CN" altLang="en-US"/>
          </a:p>
        </p:txBody>
      </p:sp>
      <p:cxnSp>
        <p:nvCxnSpPr>
          <p:cNvPr id="13" name="肘形连接符 12"/>
          <p:cNvCxnSpPr>
            <a:stCxn id="6" idx="2"/>
            <a:endCxn id="10" idx="1"/>
          </p:cNvCxnSpPr>
          <p:nvPr/>
        </p:nvCxnSpPr>
        <p:spPr>
          <a:xfrm rot="16200000" flipH="1">
            <a:off x="3178123" y="1545107"/>
            <a:ext cx="1735026" cy="18930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5" idx="2"/>
            <a:endCxn id="10" idx="0"/>
          </p:cNvCxnSpPr>
          <p:nvPr/>
        </p:nvCxnSpPr>
        <p:spPr>
          <a:xfrm>
            <a:off x="6770743" y="1280067"/>
            <a:ext cx="0" cy="1655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906881" y="1037510"/>
            <a:ext cx="128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雨带表征</a:t>
            </a:r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217923" y="1887166"/>
            <a:ext cx="188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动态改变卷积层</a:t>
            </a: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4" y="2935982"/>
            <a:ext cx="1268142" cy="846307"/>
          </a:xfrm>
          <a:prstGeom prst="rect">
            <a:avLst/>
          </a:prstGeom>
        </p:spPr>
      </p:pic>
      <p:cxnSp>
        <p:nvCxnSpPr>
          <p:cNvPr id="21" name="直接箭头连接符 20"/>
          <p:cNvCxnSpPr/>
          <p:nvPr/>
        </p:nvCxnSpPr>
        <p:spPr>
          <a:xfrm flipV="1">
            <a:off x="5558291" y="1179993"/>
            <a:ext cx="34747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0" idx="3"/>
            <a:endCxn id="19" idx="1"/>
          </p:cNvCxnSpPr>
          <p:nvPr/>
        </p:nvCxnSpPr>
        <p:spPr>
          <a:xfrm>
            <a:off x="8549333" y="3359136"/>
            <a:ext cx="11371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305170" y="4151164"/>
            <a:ext cx="632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mtClean="0"/>
              <a:t>Second stage </a:t>
            </a:r>
            <a:r>
              <a:rPr lang="zh-CN" altLang="en-US" smtClean="0"/>
              <a:t>联合训练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321925" y="4758983"/>
            <a:ext cx="84563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第一</a:t>
            </a:r>
            <a:r>
              <a:rPr lang="zh-CN" altLang="en-US" smtClean="0"/>
              <a:t>步验证实验：</a:t>
            </a:r>
            <a:endParaRPr lang="en-US" altLang="zh-CN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mtClean="0"/>
              <a:t>baseline</a:t>
            </a:r>
            <a:r>
              <a:rPr lang="zh-CN" altLang="en-US" smtClean="0"/>
              <a:t>设置，传统去雨网络在</a:t>
            </a:r>
            <a:r>
              <a:rPr lang="en-US" altLang="zh-CN"/>
              <a:t>rain</a:t>
            </a:r>
            <a:r>
              <a:rPr lang="en-US" altLang="zh-CN" smtClean="0"/>
              <a:t>1400</a:t>
            </a:r>
            <a:r>
              <a:rPr lang="zh-CN" altLang="en-US" smtClean="0"/>
              <a:t>上训练，在</a:t>
            </a:r>
            <a:r>
              <a:rPr lang="en-US" altLang="zh-CN" smtClean="0"/>
              <a:t>Rain100H</a:t>
            </a:r>
            <a:r>
              <a:rPr lang="zh-CN" altLang="en-US" smtClean="0"/>
              <a:t>上测试。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mtClean="0"/>
              <a:t>用</a:t>
            </a:r>
            <a:r>
              <a:rPr lang="en-US" altLang="zh-CN" smtClean="0"/>
              <a:t>contrastive </a:t>
            </a:r>
            <a:r>
              <a:rPr lang="zh-CN" altLang="en-US" smtClean="0"/>
              <a:t>方法学习雨带表征，结合传统去雨网络，动态改变卷积层</a:t>
            </a:r>
            <a:r>
              <a:rPr lang="en-US" altLang="zh-CN" smtClean="0"/>
              <a:t>,</a:t>
            </a:r>
            <a:r>
              <a:rPr lang="zh-CN" altLang="en-US" smtClean="0"/>
              <a:t>在</a:t>
            </a:r>
            <a:r>
              <a:rPr lang="en-US" altLang="zh-CN" smtClean="0"/>
              <a:t>rain1400</a:t>
            </a:r>
            <a:r>
              <a:rPr lang="zh-CN" altLang="en-US" smtClean="0"/>
              <a:t>上训练，</a:t>
            </a:r>
            <a:r>
              <a:rPr lang="en-US" altLang="zh-CN" smtClean="0"/>
              <a:t>rain100H</a:t>
            </a:r>
            <a:r>
              <a:rPr lang="zh-CN" altLang="en-US" smtClean="0"/>
              <a:t>上测试</a:t>
            </a:r>
            <a:endParaRPr lang="en-US" altLang="zh-CN" smtClean="0"/>
          </a:p>
          <a:p>
            <a:r>
              <a:rPr lang="zh-CN" altLang="en-US"/>
              <a:t>第二</a:t>
            </a:r>
            <a:r>
              <a:rPr lang="zh-CN" altLang="en-US" smtClean="0"/>
              <a:t>步思考：</a:t>
            </a:r>
            <a:endParaRPr lang="en-US" altLang="zh-CN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mtClean="0"/>
              <a:t>在雨带表征学习中，加入真实雨场景，做成半监督的真实去雨方法。</a:t>
            </a:r>
            <a:endParaRPr lang="en-US" altLang="zh-CN" smtClean="0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36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2259</TotalTime>
  <Words>176</Words>
  <Application>Microsoft Office PowerPoint</Application>
  <PresentationFormat>宽屏</PresentationFormat>
  <Paragraphs>26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Wingdings</vt:lpstr>
      <vt:lpstr>Office 主题​​</vt:lpstr>
      <vt:lpstr>Unsupervised Degradation Representation Learning for Blind Super-Resolution（cvpr 2021）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reading</dc:title>
  <dc:creator> </dc:creator>
  <cp:lastModifiedBy>19938</cp:lastModifiedBy>
  <cp:revision>61</cp:revision>
  <dcterms:created xsi:type="dcterms:W3CDTF">2019-10-10T00:50:12Z</dcterms:created>
  <dcterms:modified xsi:type="dcterms:W3CDTF">2021-05-07T04:57:22Z</dcterms:modified>
</cp:coreProperties>
</file>