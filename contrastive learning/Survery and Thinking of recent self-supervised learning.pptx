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62" r:id="rId3"/>
    <p:sldId id="263" r:id="rId4"/>
    <p:sldId id="273" r:id="rId5"/>
    <p:sldId id="275" r:id="rId6"/>
    <p:sldId id="278" r:id="rId7"/>
    <p:sldId id="279" r:id="rId8"/>
    <p:sldId id="280" r:id="rId9"/>
    <p:sldId id="281" r:id="rId10"/>
    <p:sldId id="265" r:id="rId11"/>
    <p:sldId id="266" r:id="rId12"/>
    <p:sldId id="274" r:id="rId13"/>
    <p:sldId id="269" r:id="rId14"/>
    <p:sldId id="270" r:id="rId15"/>
    <p:sldId id="283" r:id="rId16"/>
    <p:sldId id="285" r:id="rId17"/>
    <p:sldId id="268" r:id="rId18"/>
    <p:sldId id="271" r:id="rId19"/>
    <p:sldId id="277"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785" autoAdjust="0"/>
    <p:restoredTop sz="87430" autoAdjust="0"/>
  </p:normalViewPr>
  <p:slideViewPr>
    <p:cSldViewPr snapToGrid="0">
      <p:cViewPr varScale="1">
        <p:scale>
          <a:sx n="75" d="100"/>
          <a:sy n="75" d="100"/>
        </p:scale>
        <p:origin x="1123"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C7F848-E7CE-491F-9B6E-221665E84708}" type="datetimeFigureOut">
              <a:rPr lang="zh-CN" altLang="en-US" smtClean="0"/>
              <a:t>2020/12/14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3D84D0-B2DE-47F6-A9A6-182C8BB2AB69}" type="slidenum">
              <a:rPr lang="zh-CN" altLang="en-US" smtClean="0"/>
              <a:t>‹#›</a:t>
            </a:fld>
            <a:endParaRPr lang="zh-CN" altLang="en-US"/>
          </a:p>
        </p:txBody>
      </p:sp>
    </p:spTree>
    <p:extLst>
      <p:ext uri="{BB962C8B-B14F-4D97-AF65-F5344CB8AC3E}">
        <p14:creationId xmlns:p14="http://schemas.microsoft.com/office/powerpoint/2010/main" val="2760763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B3D84D0-B2DE-47F6-A9A6-182C8BB2AB69}" type="slidenum">
              <a:rPr lang="zh-CN" altLang="en-US" smtClean="0"/>
              <a:t>1</a:t>
            </a:fld>
            <a:endParaRPr lang="zh-CN" altLang="en-US"/>
          </a:p>
        </p:txBody>
      </p:sp>
    </p:spTree>
    <p:extLst>
      <p:ext uri="{BB962C8B-B14F-4D97-AF65-F5344CB8AC3E}">
        <p14:creationId xmlns:p14="http://schemas.microsoft.com/office/powerpoint/2010/main" val="21325629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B3D84D0-B2DE-47F6-A9A6-182C8BB2AB69}" type="slidenum">
              <a:rPr lang="zh-CN" altLang="en-US" smtClean="0"/>
              <a:t>2</a:t>
            </a:fld>
            <a:endParaRPr lang="zh-CN" altLang="en-US"/>
          </a:p>
        </p:txBody>
      </p:sp>
    </p:spTree>
    <p:extLst>
      <p:ext uri="{BB962C8B-B14F-4D97-AF65-F5344CB8AC3E}">
        <p14:creationId xmlns:p14="http://schemas.microsoft.com/office/powerpoint/2010/main" val="17145777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那什么是自监督学习呢？一句话来说就是一个函数去学习到自己的一种映射。</a:t>
            </a:r>
            <a:endParaRPr lang="en-US" altLang="zh-CN" dirty="0"/>
          </a:p>
          <a:p>
            <a:r>
              <a:rPr lang="zh-CN" altLang="en-US" dirty="0"/>
              <a:t>更具体的，我可以去定义一些</a:t>
            </a:r>
            <a:r>
              <a:rPr lang="en-US" altLang="zh-CN" dirty="0"/>
              <a:t>pretext </a:t>
            </a:r>
            <a:r>
              <a:rPr lang="zh-CN" altLang="en-US" dirty="0"/>
              <a:t>的</a:t>
            </a:r>
            <a:r>
              <a:rPr lang="en-US" altLang="zh-CN" dirty="0"/>
              <a:t>task</a:t>
            </a:r>
            <a:r>
              <a:rPr lang="zh-CN" altLang="en-US" dirty="0"/>
              <a:t>，这种</a:t>
            </a:r>
            <a:r>
              <a:rPr lang="en-US" altLang="zh-CN" dirty="0"/>
              <a:t>pretext </a:t>
            </a:r>
            <a:r>
              <a:rPr lang="zh-CN" altLang="en-US" dirty="0"/>
              <a:t>可以是一个拼图游戏，或者是 旋转角度的预测。很显然的，每采样一个训练样本，都能够直接获取</a:t>
            </a:r>
            <a:r>
              <a:rPr lang="en-US" altLang="zh-CN" dirty="0"/>
              <a:t>pretext task</a:t>
            </a:r>
            <a:r>
              <a:rPr lang="zh-CN" altLang="en-US" dirty="0"/>
              <a:t>的对应</a:t>
            </a:r>
            <a:r>
              <a:rPr lang="en-US" altLang="zh-CN" dirty="0"/>
              <a:t>label</a:t>
            </a:r>
            <a:r>
              <a:rPr lang="zh-CN" altLang="en-US" dirty="0"/>
              <a:t>。</a:t>
            </a:r>
            <a:endParaRPr lang="en-US" altLang="zh-CN" dirty="0"/>
          </a:p>
          <a:p>
            <a:r>
              <a:rPr lang="zh-CN" altLang="en-US" dirty="0"/>
              <a:t>自监督学习就是通过这种方式来挖掘和提炼数据里的信息，获取更强的表征。</a:t>
            </a:r>
            <a:endParaRPr lang="en-US" altLang="zh-CN" dirty="0"/>
          </a:p>
          <a:p>
            <a:endParaRPr lang="en-US" altLang="zh-CN" dirty="0"/>
          </a:p>
          <a:p>
            <a:r>
              <a:rPr lang="zh-CN" altLang="en-US" dirty="0"/>
              <a:t>也可以把它理解为披着无监督的皮，在做监督学习。</a:t>
            </a:r>
          </a:p>
        </p:txBody>
      </p:sp>
      <p:sp>
        <p:nvSpPr>
          <p:cNvPr id="4" name="灯片编号占位符 3"/>
          <p:cNvSpPr>
            <a:spLocks noGrp="1"/>
          </p:cNvSpPr>
          <p:nvPr>
            <p:ph type="sldNum" sz="quarter" idx="10"/>
          </p:nvPr>
        </p:nvSpPr>
        <p:spPr/>
        <p:txBody>
          <a:bodyPr/>
          <a:lstStyle/>
          <a:p>
            <a:fld id="{6B3D84D0-B2DE-47F6-A9A6-182C8BB2AB69}" type="slidenum">
              <a:rPr lang="zh-CN" altLang="en-US" smtClean="0"/>
              <a:t>3</a:t>
            </a:fld>
            <a:endParaRPr lang="zh-CN" altLang="en-US"/>
          </a:p>
        </p:txBody>
      </p:sp>
    </p:spTree>
    <p:extLst>
      <p:ext uri="{BB962C8B-B14F-4D97-AF65-F5344CB8AC3E}">
        <p14:creationId xmlns:p14="http://schemas.microsoft.com/office/powerpoint/2010/main" val="26362390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什么是对比学习呢？对比学习就是指通过训练一个分类器，来拉近相似样本，拉远相似样本。</a:t>
            </a:r>
            <a:endParaRPr lang="en-US" altLang="zh-CN" dirty="0"/>
          </a:p>
          <a:p>
            <a:r>
              <a:rPr lang="zh-CN" altLang="en-US" dirty="0"/>
              <a:t>这里的相似样本是指同一张图片的不同</a:t>
            </a:r>
            <a:r>
              <a:rPr lang="en-US" altLang="zh-CN" dirty="0"/>
              <a:t>view</a:t>
            </a:r>
            <a:r>
              <a:rPr lang="zh-CN" altLang="en-US" dirty="0"/>
              <a:t>，不同的</a:t>
            </a:r>
            <a:r>
              <a:rPr lang="en-US" altLang="zh-CN" dirty="0"/>
              <a:t>view</a:t>
            </a:r>
            <a:r>
              <a:rPr lang="zh-CN" altLang="en-US" dirty="0"/>
              <a:t>也就是通过不同的图像变换得到的，而不相似样本是指不同样本产生的样本对。</a:t>
            </a:r>
            <a:endParaRPr lang="en-US" altLang="zh-CN" dirty="0"/>
          </a:p>
          <a:p>
            <a:r>
              <a:rPr lang="zh-CN" altLang="en-US" dirty="0"/>
              <a:t>于是乎，理想情况下，每个样本都可以通过</a:t>
            </a:r>
            <a:r>
              <a:rPr lang="en-US" altLang="zh-CN" dirty="0"/>
              <a:t>encoder</a:t>
            </a:r>
            <a:r>
              <a:rPr lang="zh-CN" altLang="en-US" dirty="0"/>
              <a:t>获取到他独特的有辨识度的表征了。我们就认为这样的表征很好。</a:t>
            </a:r>
            <a:endParaRPr lang="en-US" altLang="zh-CN" dirty="0"/>
          </a:p>
          <a:p>
            <a:endParaRPr lang="en-US" altLang="zh-CN" dirty="0"/>
          </a:p>
          <a:p>
            <a:r>
              <a:rPr lang="zh-CN" altLang="en-US" dirty="0"/>
              <a:t>值得注意的是，对比学习有一个很强的假设，就是一张图片的不同增强方式是属于一个</a:t>
            </a:r>
            <a:r>
              <a:rPr lang="en-US" altLang="zh-CN" dirty="0"/>
              <a:t>instance</a:t>
            </a:r>
            <a:r>
              <a:rPr lang="zh-CN" altLang="en-US" dirty="0"/>
              <a:t>，而各个图片之间，属于不同的</a:t>
            </a:r>
            <a:r>
              <a:rPr lang="en-US" altLang="zh-CN" dirty="0"/>
              <a:t>instance</a:t>
            </a:r>
            <a:r>
              <a:rPr lang="zh-CN" altLang="en-US" dirty="0"/>
              <a:t>。</a:t>
            </a:r>
            <a:endParaRPr lang="en-US" altLang="zh-CN" dirty="0"/>
          </a:p>
          <a:p>
            <a:r>
              <a:rPr lang="zh-CN" altLang="en-US" dirty="0"/>
              <a:t>那么这种假设到底是否合理呢？有什么可以改进的地方呢？就留给大家去思考吧，因为我也不知道。</a:t>
            </a:r>
          </a:p>
        </p:txBody>
      </p:sp>
      <p:sp>
        <p:nvSpPr>
          <p:cNvPr id="4" name="灯片编号占位符 3"/>
          <p:cNvSpPr>
            <a:spLocks noGrp="1"/>
          </p:cNvSpPr>
          <p:nvPr>
            <p:ph type="sldNum" sz="quarter" idx="10"/>
          </p:nvPr>
        </p:nvSpPr>
        <p:spPr/>
        <p:txBody>
          <a:bodyPr/>
          <a:lstStyle/>
          <a:p>
            <a:fld id="{6B3D84D0-B2DE-47F6-A9A6-182C8BB2AB69}" type="slidenum">
              <a:rPr lang="zh-CN" altLang="en-US" smtClean="0"/>
              <a:t>4</a:t>
            </a:fld>
            <a:endParaRPr lang="zh-CN" altLang="en-US"/>
          </a:p>
        </p:txBody>
      </p:sp>
    </p:spTree>
    <p:extLst>
      <p:ext uri="{BB962C8B-B14F-4D97-AF65-F5344CB8AC3E}">
        <p14:creationId xmlns:p14="http://schemas.microsoft.com/office/powerpoint/2010/main" val="42379517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B3D84D0-B2DE-47F6-A9A6-182C8BB2AB69}" type="slidenum">
              <a:rPr lang="zh-CN" altLang="en-US" smtClean="0"/>
              <a:t>5</a:t>
            </a:fld>
            <a:endParaRPr lang="zh-CN" altLang="en-US"/>
          </a:p>
        </p:txBody>
      </p:sp>
    </p:spTree>
    <p:extLst>
      <p:ext uri="{BB962C8B-B14F-4D97-AF65-F5344CB8AC3E}">
        <p14:creationId xmlns:p14="http://schemas.microsoft.com/office/powerpoint/2010/main" val="39648788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对比学习有一个特性是，负样本越多，这个任务越难，那么就更加会</a:t>
            </a:r>
            <a:r>
              <a:rPr lang="en-US" altLang="zh-CN" dirty="0"/>
              <a:t>push</a:t>
            </a:r>
            <a:r>
              <a:rPr lang="zh-CN" altLang="en-US" dirty="0"/>
              <a:t>网络学习怎么把样本和样本之间区分开。</a:t>
            </a:r>
            <a:endParaRPr lang="en-US" altLang="zh-CN" dirty="0"/>
          </a:p>
          <a:p>
            <a:r>
              <a:rPr lang="zh-CN" altLang="en-US" dirty="0"/>
              <a:t>所以最简单的方式就是，</a:t>
            </a:r>
            <a:r>
              <a:rPr lang="en-US" altLang="zh-CN" dirty="0"/>
              <a:t>batch size</a:t>
            </a:r>
            <a:r>
              <a:rPr lang="zh-CN" altLang="en-US" dirty="0"/>
              <a:t>搞得很大。但是，这对显存要求非常高。</a:t>
            </a:r>
            <a:endParaRPr lang="en-US" altLang="zh-CN" dirty="0"/>
          </a:p>
          <a:p>
            <a:r>
              <a:rPr lang="zh-CN" altLang="en-US" dirty="0"/>
              <a:t>另外一种办法就是，搞个</a:t>
            </a:r>
            <a:r>
              <a:rPr lang="en-US" altLang="zh-CN" dirty="0"/>
              <a:t>memory bank</a:t>
            </a:r>
            <a:r>
              <a:rPr lang="zh-CN" altLang="en-US" dirty="0"/>
              <a:t>，把之前编码好的样本存储起来，在计算</a:t>
            </a:r>
            <a:r>
              <a:rPr lang="en-US" altLang="zh-CN" dirty="0"/>
              <a:t>loss</a:t>
            </a:r>
            <a:r>
              <a:rPr lang="zh-CN" altLang="en-US" dirty="0"/>
              <a:t>的时候一起当作负例，这个方法的缺点就是，我编码器一直在变，</a:t>
            </a:r>
            <a:r>
              <a:rPr lang="en-US" altLang="zh-CN" dirty="0"/>
              <a:t>memory bank</a:t>
            </a:r>
            <a:r>
              <a:rPr lang="zh-CN" altLang="en-US" dirty="0"/>
              <a:t>里面的负例很多都是之前的，两侧就不一致了，这样也不好优化。</a:t>
            </a:r>
            <a:endParaRPr lang="en-US" altLang="zh-CN" dirty="0"/>
          </a:p>
          <a:p>
            <a:r>
              <a:rPr lang="zh-CN" altLang="en-US" dirty="0"/>
              <a:t>所以作者想了个折中的办法，他弄了个</a:t>
            </a:r>
            <a:r>
              <a:rPr lang="en-US" altLang="zh-CN" dirty="0"/>
              <a:t>dictionary</a:t>
            </a:r>
            <a:r>
              <a:rPr lang="zh-CN" altLang="en-US" dirty="0"/>
              <a:t>，这个</a:t>
            </a:r>
            <a:r>
              <a:rPr lang="en-US" altLang="zh-CN" dirty="0"/>
              <a:t>dictionary</a:t>
            </a:r>
            <a:r>
              <a:rPr lang="zh-CN" altLang="en-US" dirty="0"/>
              <a:t>很大，也是每次计算</a:t>
            </a:r>
            <a:r>
              <a:rPr lang="en-US" altLang="zh-CN" dirty="0"/>
              <a:t>loss</a:t>
            </a:r>
            <a:r>
              <a:rPr lang="zh-CN" altLang="en-US" dirty="0"/>
              <a:t>的时候当作负例，那这个</a:t>
            </a:r>
            <a:r>
              <a:rPr lang="en-US" altLang="zh-CN" dirty="0"/>
              <a:t>dictionary</a:t>
            </a:r>
            <a:r>
              <a:rPr lang="zh-CN" altLang="en-US" dirty="0"/>
              <a:t>和</a:t>
            </a:r>
            <a:r>
              <a:rPr lang="en-US" altLang="zh-CN" dirty="0"/>
              <a:t>memory bank</a:t>
            </a:r>
            <a:r>
              <a:rPr lang="zh-CN" altLang="en-US" dirty="0"/>
              <a:t>的区别在哪呢？就是</a:t>
            </a:r>
            <a:r>
              <a:rPr lang="en-US" altLang="zh-CN" dirty="0"/>
              <a:t>dictionary</a:t>
            </a:r>
            <a:r>
              <a:rPr lang="zh-CN" altLang="en-US" dirty="0"/>
              <a:t>里面的数据是不断地通过一个</a:t>
            </a:r>
            <a:r>
              <a:rPr lang="en-US" altLang="zh-CN" dirty="0"/>
              <a:t>momentum encoder</a:t>
            </a:r>
            <a:r>
              <a:rPr lang="zh-CN" altLang="en-US" dirty="0"/>
              <a:t>来更新的，这个</a:t>
            </a:r>
            <a:r>
              <a:rPr lang="en-US" altLang="zh-CN" dirty="0"/>
              <a:t>momentum encoder</a:t>
            </a:r>
            <a:r>
              <a:rPr lang="zh-CN" altLang="en-US" dirty="0"/>
              <a:t>呢，请看这里，这个</a:t>
            </a:r>
            <a:r>
              <a:rPr lang="en-US" altLang="zh-CN" dirty="0"/>
              <a:t>m</a:t>
            </a:r>
            <a:r>
              <a:rPr lang="zh-CN" altLang="en-US" dirty="0"/>
              <a:t>一般是</a:t>
            </a:r>
            <a:r>
              <a:rPr lang="en-US" altLang="zh-CN" dirty="0"/>
              <a:t>0.99</a:t>
            </a:r>
            <a:r>
              <a:rPr lang="zh-CN" altLang="en-US" dirty="0"/>
              <a:t>之类的很接近</a:t>
            </a:r>
            <a:r>
              <a:rPr lang="en-US" altLang="zh-CN" dirty="0"/>
              <a:t>1</a:t>
            </a:r>
            <a:r>
              <a:rPr lang="zh-CN" altLang="en-US" dirty="0"/>
              <a:t>的数字，所以</a:t>
            </a:r>
            <a:r>
              <a:rPr lang="en-US" altLang="zh-CN" dirty="0"/>
              <a:t>momentum encoder</a:t>
            </a:r>
            <a:r>
              <a:rPr lang="zh-CN" altLang="en-US" dirty="0"/>
              <a:t>不断地慢慢地靠近真正的</a:t>
            </a:r>
            <a:r>
              <a:rPr lang="en-US" altLang="zh-CN" dirty="0"/>
              <a:t>encoder</a:t>
            </a:r>
            <a:r>
              <a:rPr lang="zh-CN" altLang="en-US" dirty="0"/>
              <a:t>，从而保证了</a:t>
            </a:r>
            <a:r>
              <a:rPr lang="en-US" altLang="zh-CN" dirty="0"/>
              <a:t>dictionary</a:t>
            </a:r>
            <a:r>
              <a:rPr lang="zh-CN" altLang="en-US" dirty="0"/>
              <a:t>里面数据的新鲜度。</a:t>
            </a:r>
          </a:p>
        </p:txBody>
      </p:sp>
      <p:sp>
        <p:nvSpPr>
          <p:cNvPr id="4" name="灯片编号占位符 3"/>
          <p:cNvSpPr>
            <a:spLocks noGrp="1"/>
          </p:cNvSpPr>
          <p:nvPr>
            <p:ph type="sldNum" sz="quarter" idx="10"/>
          </p:nvPr>
        </p:nvSpPr>
        <p:spPr/>
        <p:txBody>
          <a:bodyPr/>
          <a:lstStyle/>
          <a:p>
            <a:fld id="{6B3D84D0-B2DE-47F6-A9A6-182C8BB2AB69}" type="slidenum">
              <a:rPr lang="zh-CN" altLang="en-US" smtClean="0"/>
              <a:t>6</a:t>
            </a:fld>
            <a:endParaRPr lang="zh-CN" altLang="en-US"/>
          </a:p>
        </p:txBody>
      </p:sp>
    </p:spTree>
    <p:extLst>
      <p:ext uri="{BB962C8B-B14F-4D97-AF65-F5344CB8AC3E}">
        <p14:creationId xmlns:p14="http://schemas.microsoft.com/office/powerpoint/2010/main" val="34853502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B3D84D0-B2DE-47F6-A9A6-182C8BB2AB69}" type="slidenum">
              <a:rPr lang="zh-CN" altLang="en-US" smtClean="0"/>
              <a:t>7</a:t>
            </a:fld>
            <a:endParaRPr lang="zh-CN" altLang="en-US"/>
          </a:p>
        </p:txBody>
      </p:sp>
    </p:spTree>
    <p:extLst>
      <p:ext uri="{BB962C8B-B14F-4D97-AF65-F5344CB8AC3E}">
        <p14:creationId xmlns:p14="http://schemas.microsoft.com/office/powerpoint/2010/main" val="20669146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B3D84D0-B2DE-47F6-A9A6-182C8BB2AB69}" type="slidenum">
              <a:rPr lang="zh-CN" altLang="en-US" smtClean="0"/>
              <a:t>9</a:t>
            </a:fld>
            <a:endParaRPr lang="zh-CN" altLang="en-US"/>
          </a:p>
        </p:txBody>
      </p:sp>
    </p:spTree>
    <p:extLst>
      <p:ext uri="{BB962C8B-B14F-4D97-AF65-F5344CB8AC3E}">
        <p14:creationId xmlns:p14="http://schemas.microsoft.com/office/powerpoint/2010/main" val="6590988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于是就来到了今天的主角，</a:t>
            </a:r>
            <a:r>
              <a:rPr lang="en-US" altLang="zh-CN" dirty="0" err="1"/>
              <a:t>simsiam</a:t>
            </a:r>
            <a:r>
              <a:rPr lang="zh-CN" altLang="en-US" dirty="0"/>
              <a:t>，这个结构非常简单</a:t>
            </a:r>
            <a:r>
              <a:rPr lang="en-US" altLang="zh-CN" dirty="0"/>
              <a:t>…… </a:t>
            </a:r>
          </a:p>
          <a:p>
            <a:r>
              <a:rPr lang="zh-CN" altLang="en-US" dirty="0"/>
              <a:t>可以说他和</a:t>
            </a:r>
            <a:r>
              <a:rPr lang="en-US" altLang="zh-CN" dirty="0"/>
              <a:t>BYOL</a:t>
            </a:r>
            <a:r>
              <a:rPr lang="zh-CN" altLang="en-US" dirty="0"/>
              <a:t>唯一的区别就是没有用</a:t>
            </a:r>
            <a:r>
              <a:rPr lang="en-US" altLang="zh-CN" dirty="0"/>
              <a:t>momentum</a:t>
            </a:r>
            <a:r>
              <a:rPr lang="zh-CN" altLang="en-US" dirty="0"/>
              <a:t>。</a:t>
            </a:r>
          </a:p>
        </p:txBody>
      </p:sp>
      <p:sp>
        <p:nvSpPr>
          <p:cNvPr id="4" name="灯片编号占位符 3"/>
          <p:cNvSpPr>
            <a:spLocks noGrp="1"/>
          </p:cNvSpPr>
          <p:nvPr>
            <p:ph type="sldNum" sz="quarter" idx="10"/>
          </p:nvPr>
        </p:nvSpPr>
        <p:spPr/>
        <p:txBody>
          <a:bodyPr/>
          <a:lstStyle/>
          <a:p>
            <a:fld id="{6B3D84D0-B2DE-47F6-A9A6-182C8BB2AB69}" type="slidenum">
              <a:rPr lang="zh-CN" altLang="en-US" smtClean="0"/>
              <a:t>11</a:t>
            </a:fld>
            <a:endParaRPr lang="zh-CN" altLang="en-US"/>
          </a:p>
        </p:txBody>
      </p:sp>
    </p:spTree>
    <p:extLst>
      <p:ext uri="{BB962C8B-B14F-4D97-AF65-F5344CB8AC3E}">
        <p14:creationId xmlns:p14="http://schemas.microsoft.com/office/powerpoint/2010/main" val="18923487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B3D84D0-B2DE-47F6-A9A6-182C8BB2AB69}" type="slidenum">
              <a:rPr lang="zh-CN" altLang="en-US" smtClean="0"/>
              <a:t>12</a:t>
            </a:fld>
            <a:endParaRPr lang="zh-CN" altLang="en-US"/>
          </a:p>
        </p:txBody>
      </p:sp>
    </p:spTree>
    <p:extLst>
      <p:ext uri="{BB962C8B-B14F-4D97-AF65-F5344CB8AC3E}">
        <p14:creationId xmlns:p14="http://schemas.microsoft.com/office/powerpoint/2010/main" val="16333995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B3D84D0-B2DE-47F6-A9A6-182C8BB2AB69}" type="slidenum">
              <a:rPr lang="zh-CN" altLang="en-US" smtClean="0"/>
              <a:t>13</a:t>
            </a:fld>
            <a:endParaRPr lang="zh-CN" altLang="en-US"/>
          </a:p>
        </p:txBody>
      </p:sp>
    </p:spTree>
    <p:extLst>
      <p:ext uri="{BB962C8B-B14F-4D97-AF65-F5344CB8AC3E}">
        <p14:creationId xmlns:p14="http://schemas.microsoft.com/office/powerpoint/2010/main" val="41192213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B3D84D0-B2DE-47F6-A9A6-182C8BB2AB69}" type="slidenum">
              <a:rPr lang="zh-CN" altLang="en-US" smtClean="0"/>
              <a:t>15</a:t>
            </a:fld>
            <a:endParaRPr lang="zh-CN" altLang="en-US"/>
          </a:p>
        </p:txBody>
      </p:sp>
    </p:spTree>
    <p:extLst>
      <p:ext uri="{BB962C8B-B14F-4D97-AF65-F5344CB8AC3E}">
        <p14:creationId xmlns:p14="http://schemas.microsoft.com/office/powerpoint/2010/main" val="12704309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和 </a:t>
            </a:r>
            <a:r>
              <a:rPr lang="en-US" altLang="zh-CN" sz="1200" b="0" i="0" kern="1200" dirty="0" err="1">
                <a:solidFill>
                  <a:schemeClr val="tx1"/>
                </a:solidFill>
                <a:effectLst/>
                <a:latin typeface="+mn-lt"/>
                <a:ea typeface="+mn-ea"/>
                <a:cs typeface="+mn-cs"/>
              </a:rPr>
              <a:t>SimCLR</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的不同主要就在于</a:t>
            </a:r>
          </a:p>
          <a:p>
            <a:r>
              <a:rPr lang="zh-CN" altLang="en-US" sz="1200" b="0" i="0" kern="1200" dirty="0">
                <a:solidFill>
                  <a:schemeClr val="tx1"/>
                </a:solidFill>
                <a:effectLst/>
                <a:latin typeface="+mn-lt"/>
                <a:ea typeface="+mn-ea"/>
                <a:cs typeface="+mn-cs"/>
              </a:rPr>
              <a:t>首先当然是有 </a:t>
            </a:r>
            <a:r>
              <a:rPr lang="en-US" altLang="zh-CN" sz="1200" b="0" i="0" kern="1200" dirty="0">
                <a:solidFill>
                  <a:schemeClr val="tx1"/>
                </a:solidFill>
                <a:effectLst/>
                <a:latin typeface="+mn-lt"/>
                <a:ea typeface="+mn-ea"/>
                <a:cs typeface="+mn-cs"/>
              </a:rPr>
              <a:t>Stop-gradient</a:t>
            </a:r>
          </a:p>
          <a:p>
            <a:r>
              <a:rPr lang="zh-CN" altLang="en-US" sz="1200" b="0" i="0" kern="1200" dirty="0">
                <a:solidFill>
                  <a:schemeClr val="tx1"/>
                </a:solidFill>
                <a:effectLst/>
                <a:latin typeface="+mn-lt"/>
                <a:ea typeface="+mn-ea"/>
                <a:cs typeface="+mn-cs"/>
              </a:rPr>
              <a:t>其次没有负例对，也就是不计算 </a:t>
            </a:r>
            <a:r>
              <a:rPr lang="en-US" altLang="zh-CN" sz="1200" b="0" i="0" kern="1200" dirty="0">
                <a:solidFill>
                  <a:schemeClr val="tx1"/>
                </a:solidFill>
                <a:effectLst/>
                <a:latin typeface="+mn-lt"/>
                <a:ea typeface="+mn-ea"/>
                <a:cs typeface="+mn-cs"/>
              </a:rPr>
              <a:t>dissimilarity</a:t>
            </a: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和 </a:t>
            </a:r>
            <a:r>
              <a:rPr lang="en-US" altLang="zh-CN" sz="1200" b="0" i="0" kern="1200" dirty="0" err="1">
                <a:solidFill>
                  <a:schemeClr val="tx1"/>
                </a:solidFill>
                <a:effectLst/>
                <a:latin typeface="+mn-lt"/>
                <a:ea typeface="+mn-ea"/>
                <a:cs typeface="+mn-cs"/>
              </a:rPr>
              <a:t>SwAV</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的不同主要在于</a:t>
            </a:r>
          </a:p>
          <a:p>
            <a:r>
              <a:rPr lang="en-US" altLang="zh-CN" sz="1200" b="0" i="0" kern="1200" dirty="0" err="1">
                <a:solidFill>
                  <a:schemeClr val="tx1"/>
                </a:solidFill>
                <a:effectLst/>
                <a:latin typeface="+mn-lt"/>
                <a:ea typeface="+mn-ea"/>
                <a:cs typeface="+mn-cs"/>
              </a:rPr>
              <a:t>SwAV</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在右端是用的 </a:t>
            </a:r>
            <a:r>
              <a:rPr lang="en-US" altLang="zh-CN" sz="1200" b="0" i="0" kern="1200" dirty="0" err="1">
                <a:solidFill>
                  <a:schemeClr val="tx1"/>
                </a:solidFill>
                <a:effectLst/>
                <a:latin typeface="+mn-lt"/>
                <a:ea typeface="+mn-ea"/>
                <a:cs typeface="+mn-cs"/>
              </a:rPr>
              <a:t>Sinkhorn-Knopp</a:t>
            </a:r>
            <a:r>
              <a:rPr lang="en-US" altLang="zh-CN" sz="1200" b="0" i="0" kern="1200" dirty="0">
                <a:solidFill>
                  <a:schemeClr val="tx1"/>
                </a:solidFill>
                <a:effectLst/>
                <a:latin typeface="+mn-lt"/>
                <a:ea typeface="+mn-ea"/>
                <a:cs typeface="+mn-cs"/>
              </a:rPr>
              <a:t> (SK) </a:t>
            </a:r>
            <a:r>
              <a:rPr lang="zh-CN" altLang="en-US" sz="1200" b="0" i="0" kern="1200" dirty="0">
                <a:solidFill>
                  <a:schemeClr val="tx1"/>
                </a:solidFill>
                <a:effectLst/>
                <a:latin typeface="+mn-lt"/>
                <a:ea typeface="+mn-ea"/>
                <a:cs typeface="+mn-cs"/>
              </a:rPr>
              <a:t>变换便于聚类运算，而这里用的 </a:t>
            </a:r>
            <a:r>
              <a:rPr lang="en-US" altLang="zh-CN" sz="1200" b="0" i="0" kern="1200" dirty="0">
                <a:solidFill>
                  <a:schemeClr val="tx1"/>
                </a:solidFill>
                <a:effectLst/>
                <a:latin typeface="+mn-lt"/>
                <a:ea typeface="+mn-ea"/>
                <a:cs typeface="+mn-cs"/>
              </a:rPr>
              <a:t>stop-gradient</a:t>
            </a: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而和 </a:t>
            </a:r>
            <a:r>
              <a:rPr lang="en-US" altLang="zh-CN" sz="1200" b="0" i="0" kern="1200" dirty="0">
                <a:solidFill>
                  <a:schemeClr val="tx1"/>
                </a:solidFill>
                <a:effectLst/>
                <a:latin typeface="+mn-lt"/>
                <a:ea typeface="+mn-ea"/>
                <a:cs typeface="+mn-cs"/>
              </a:rPr>
              <a:t>BYOL </a:t>
            </a:r>
            <a:r>
              <a:rPr lang="zh-CN" altLang="en-US" sz="1200" b="0" i="0" kern="1200" dirty="0">
                <a:solidFill>
                  <a:schemeClr val="tx1"/>
                </a:solidFill>
                <a:effectLst/>
                <a:latin typeface="+mn-lt"/>
                <a:ea typeface="+mn-ea"/>
                <a:cs typeface="+mn-cs"/>
              </a:rPr>
              <a:t>的不同最小</a:t>
            </a:r>
          </a:p>
          <a:p>
            <a:r>
              <a:rPr lang="en-US" altLang="zh-CN" sz="1200" b="0" i="0" kern="1200" dirty="0">
                <a:solidFill>
                  <a:schemeClr val="tx1"/>
                </a:solidFill>
                <a:effectLst/>
                <a:latin typeface="+mn-lt"/>
                <a:ea typeface="+mn-ea"/>
                <a:cs typeface="+mn-cs"/>
              </a:rPr>
              <a:t>BYOL </a:t>
            </a:r>
            <a:r>
              <a:rPr lang="zh-CN" altLang="en-US" sz="1200" b="0" i="0" kern="1200" dirty="0">
                <a:solidFill>
                  <a:schemeClr val="tx1"/>
                </a:solidFill>
                <a:effectLst/>
                <a:latin typeface="+mn-lt"/>
                <a:ea typeface="+mn-ea"/>
                <a:cs typeface="+mn-cs"/>
              </a:rPr>
              <a:t>默认就是 </a:t>
            </a:r>
            <a:r>
              <a:rPr lang="en-US" altLang="zh-CN" sz="1200" b="0" i="0" kern="1200" dirty="0">
                <a:solidFill>
                  <a:schemeClr val="tx1"/>
                </a:solidFill>
                <a:effectLst/>
                <a:latin typeface="+mn-lt"/>
                <a:ea typeface="+mn-ea"/>
                <a:cs typeface="+mn-cs"/>
              </a:rPr>
              <a:t>stop-gradient</a:t>
            </a:r>
            <a:r>
              <a:rPr lang="zh-CN" altLang="en-US" sz="1200" b="0" i="0" kern="1200" dirty="0">
                <a:solidFill>
                  <a:schemeClr val="tx1"/>
                </a:solidFill>
                <a:effectLst/>
                <a:latin typeface="+mn-lt"/>
                <a:ea typeface="+mn-ea"/>
                <a:cs typeface="+mn-cs"/>
              </a:rPr>
              <a:t>，而右端的 </a:t>
            </a:r>
            <a:r>
              <a:rPr lang="en-US" altLang="zh-CN" sz="1200" b="0" i="0" kern="1200" dirty="0">
                <a:solidFill>
                  <a:schemeClr val="tx1"/>
                </a:solidFill>
                <a:effectLst/>
                <a:latin typeface="+mn-lt"/>
                <a:ea typeface="+mn-ea"/>
                <a:cs typeface="+mn-cs"/>
              </a:rPr>
              <a:t>encoder </a:t>
            </a:r>
            <a:r>
              <a:rPr lang="zh-CN" altLang="en-US" sz="1200" b="0" i="0" kern="1200" dirty="0">
                <a:solidFill>
                  <a:schemeClr val="tx1"/>
                </a:solidFill>
                <a:effectLst/>
                <a:latin typeface="+mn-lt"/>
                <a:ea typeface="+mn-ea"/>
                <a:cs typeface="+mn-cs"/>
              </a:rPr>
              <a:t>用的是左边的滑动平均，其实也能理解为计算了一个更平滑的目标网络</a:t>
            </a:r>
          </a:p>
          <a:p>
            <a:endParaRPr lang="zh-CN" altLang="en-US" dirty="0"/>
          </a:p>
        </p:txBody>
      </p:sp>
      <p:sp>
        <p:nvSpPr>
          <p:cNvPr id="4" name="灯片编号占位符 3"/>
          <p:cNvSpPr>
            <a:spLocks noGrp="1"/>
          </p:cNvSpPr>
          <p:nvPr>
            <p:ph type="sldNum" sz="quarter" idx="10"/>
          </p:nvPr>
        </p:nvSpPr>
        <p:spPr/>
        <p:txBody>
          <a:bodyPr/>
          <a:lstStyle/>
          <a:p>
            <a:fld id="{6B3D84D0-B2DE-47F6-A9A6-182C8BB2AB69}" type="slidenum">
              <a:rPr lang="zh-CN" altLang="en-US" smtClean="0"/>
              <a:t>17</a:t>
            </a:fld>
            <a:endParaRPr lang="zh-CN" altLang="en-US"/>
          </a:p>
        </p:txBody>
      </p:sp>
    </p:spTree>
    <p:extLst>
      <p:ext uri="{BB962C8B-B14F-4D97-AF65-F5344CB8AC3E}">
        <p14:creationId xmlns:p14="http://schemas.microsoft.com/office/powerpoint/2010/main" val="20110132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从</a:t>
            </a:r>
            <a:r>
              <a:rPr lang="en-US" altLang="zh-CN" dirty="0"/>
              <a:t>09</a:t>
            </a:r>
            <a:r>
              <a:rPr lang="zh-CN" altLang="en-US" dirty="0"/>
              <a:t>年的</a:t>
            </a:r>
            <a:r>
              <a:rPr lang="en-US" altLang="zh-CN" dirty="0" err="1"/>
              <a:t>cvpr</a:t>
            </a:r>
            <a:r>
              <a:rPr lang="zh-CN" altLang="en-US" baseline="0" dirty="0"/>
              <a:t> </a:t>
            </a:r>
            <a:r>
              <a:rPr lang="en-US" altLang="zh-CN" baseline="0" dirty="0"/>
              <a:t>best paper</a:t>
            </a:r>
            <a:r>
              <a:rPr lang="zh-CN" altLang="en-US" baseline="0" dirty="0"/>
              <a:t>，利用</a:t>
            </a:r>
            <a:r>
              <a:rPr lang="en-US" altLang="zh-CN" baseline="0" dirty="0"/>
              <a:t>dark channel prior</a:t>
            </a:r>
            <a:r>
              <a:rPr lang="zh-CN" altLang="en-US" baseline="0" dirty="0"/>
              <a:t>来做去雾，再到后来的</a:t>
            </a:r>
            <a:r>
              <a:rPr lang="en-US" altLang="zh-CN" baseline="0" dirty="0" err="1"/>
              <a:t>resnet</a:t>
            </a:r>
            <a:r>
              <a:rPr lang="zh-CN" altLang="en-US" baseline="0" dirty="0"/>
              <a:t>，</a:t>
            </a:r>
            <a:r>
              <a:rPr lang="en-US" altLang="zh-CN" baseline="0" dirty="0"/>
              <a:t>faster </a:t>
            </a:r>
            <a:r>
              <a:rPr lang="en-US" altLang="zh-CN" baseline="0" dirty="0" err="1"/>
              <a:t>rcnn</a:t>
            </a:r>
            <a:r>
              <a:rPr lang="zh-CN" altLang="en-US" baseline="0" dirty="0"/>
              <a:t>，</a:t>
            </a:r>
            <a:r>
              <a:rPr lang="en-US" altLang="zh-CN" baseline="0" dirty="0"/>
              <a:t>mask </a:t>
            </a:r>
            <a:r>
              <a:rPr lang="en-US" altLang="zh-CN" baseline="0" dirty="0" err="1"/>
              <a:t>rcnn</a:t>
            </a:r>
            <a:r>
              <a:rPr lang="zh-CN" altLang="en-US" baseline="0" dirty="0"/>
              <a:t>，这些工作都是实实在在的对现在计算机视觉领域起到了非常大的推动作用。</a:t>
            </a:r>
            <a:endParaRPr lang="en-US" altLang="zh-CN" baseline="0" dirty="0"/>
          </a:p>
          <a:p>
            <a:r>
              <a:rPr lang="zh-CN" altLang="en-US" baseline="0" dirty="0"/>
              <a:t>而真正当我去读这些论文的时候，发现里面的原理和操作真的并不复杂，但又设计的及其巧妙。我觉得他这样的一种能看到本质的能力和直觉，是非常值得学习的，我们可以多去思考和探究怎么给一个东西做减法，去透彻和不投机的分析一个东西的本质，这应该是有益的。</a:t>
            </a:r>
            <a:endParaRPr lang="zh-CN" altLang="en-US" dirty="0"/>
          </a:p>
        </p:txBody>
      </p:sp>
      <p:sp>
        <p:nvSpPr>
          <p:cNvPr id="4" name="灯片编号占位符 3"/>
          <p:cNvSpPr>
            <a:spLocks noGrp="1"/>
          </p:cNvSpPr>
          <p:nvPr>
            <p:ph type="sldNum" sz="quarter" idx="10"/>
          </p:nvPr>
        </p:nvSpPr>
        <p:spPr/>
        <p:txBody>
          <a:bodyPr/>
          <a:lstStyle/>
          <a:p>
            <a:fld id="{6B3D84D0-B2DE-47F6-A9A6-182C8BB2AB69}" type="slidenum">
              <a:rPr lang="zh-CN" altLang="en-US" smtClean="0"/>
              <a:t>18</a:t>
            </a:fld>
            <a:endParaRPr lang="zh-CN" altLang="en-US"/>
          </a:p>
        </p:txBody>
      </p:sp>
    </p:spTree>
    <p:extLst>
      <p:ext uri="{BB962C8B-B14F-4D97-AF65-F5344CB8AC3E}">
        <p14:creationId xmlns:p14="http://schemas.microsoft.com/office/powerpoint/2010/main" val="14041654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BDC9CB-A9A5-45AA-9B47-4FF64AE49AE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5A71DE9-8305-492A-82D8-9B044A0F8D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E0F3BFC-C065-4AE5-A396-0E213442DD91}"/>
              </a:ext>
            </a:extLst>
          </p:cNvPr>
          <p:cNvSpPr>
            <a:spLocks noGrp="1"/>
          </p:cNvSpPr>
          <p:nvPr>
            <p:ph type="dt" sz="half" idx="10"/>
          </p:nvPr>
        </p:nvSpPr>
        <p:spPr/>
        <p:txBody>
          <a:bodyPr/>
          <a:lstStyle/>
          <a:p>
            <a:fld id="{F414857B-7513-4B42-8BF0-0A34CAC59413}" type="datetimeFigureOut">
              <a:rPr lang="zh-CN" altLang="en-US" smtClean="0"/>
              <a:t>2020/12/14</a:t>
            </a:fld>
            <a:endParaRPr lang="zh-CN" altLang="en-US"/>
          </a:p>
        </p:txBody>
      </p:sp>
      <p:sp>
        <p:nvSpPr>
          <p:cNvPr id="5" name="页脚占位符 4">
            <a:extLst>
              <a:ext uri="{FF2B5EF4-FFF2-40B4-BE49-F238E27FC236}">
                <a16:creationId xmlns:a16="http://schemas.microsoft.com/office/drawing/2014/main" id="{F8EEEA28-6ECD-485E-9EBB-CF2352CAF25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1C39603-F850-40E6-9A4A-325CB07313F1}"/>
              </a:ext>
            </a:extLst>
          </p:cNvPr>
          <p:cNvSpPr>
            <a:spLocks noGrp="1"/>
          </p:cNvSpPr>
          <p:nvPr>
            <p:ph type="sldNum" sz="quarter" idx="12"/>
          </p:nvPr>
        </p:nvSpPr>
        <p:spPr/>
        <p:txBody>
          <a:bodyPr/>
          <a:lstStyle/>
          <a:p>
            <a:fld id="{6247B1CE-A74C-4CBB-9FDB-78A3B6F4C532}" type="slidenum">
              <a:rPr lang="zh-CN" altLang="en-US" smtClean="0"/>
              <a:t>‹#›</a:t>
            </a:fld>
            <a:endParaRPr lang="zh-CN" altLang="en-US"/>
          </a:p>
        </p:txBody>
      </p:sp>
    </p:spTree>
    <p:extLst>
      <p:ext uri="{BB962C8B-B14F-4D97-AF65-F5344CB8AC3E}">
        <p14:creationId xmlns:p14="http://schemas.microsoft.com/office/powerpoint/2010/main" val="16514355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68D68B-802E-4533-BD7A-4F03CC4B3B9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AA6D4A0-6789-4B85-9BE5-F5F71FBC82A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DA8AF31-9513-419F-96D1-CC299353E345}"/>
              </a:ext>
            </a:extLst>
          </p:cNvPr>
          <p:cNvSpPr>
            <a:spLocks noGrp="1"/>
          </p:cNvSpPr>
          <p:nvPr>
            <p:ph type="dt" sz="half" idx="10"/>
          </p:nvPr>
        </p:nvSpPr>
        <p:spPr/>
        <p:txBody>
          <a:bodyPr/>
          <a:lstStyle/>
          <a:p>
            <a:fld id="{F414857B-7513-4B42-8BF0-0A34CAC59413}" type="datetimeFigureOut">
              <a:rPr lang="zh-CN" altLang="en-US" smtClean="0"/>
              <a:t>2020/12/14</a:t>
            </a:fld>
            <a:endParaRPr lang="zh-CN" altLang="en-US"/>
          </a:p>
        </p:txBody>
      </p:sp>
      <p:sp>
        <p:nvSpPr>
          <p:cNvPr id="5" name="页脚占位符 4">
            <a:extLst>
              <a:ext uri="{FF2B5EF4-FFF2-40B4-BE49-F238E27FC236}">
                <a16:creationId xmlns:a16="http://schemas.microsoft.com/office/drawing/2014/main" id="{AF4729C2-DC0C-4E6E-B48F-38109509E8A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6C8D817-9477-48A3-82FE-D032F45AF242}"/>
              </a:ext>
            </a:extLst>
          </p:cNvPr>
          <p:cNvSpPr>
            <a:spLocks noGrp="1"/>
          </p:cNvSpPr>
          <p:nvPr>
            <p:ph type="sldNum" sz="quarter" idx="12"/>
          </p:nvPr>
        </p:nvSpPr>
        <p:spPr/>
        <p:txBody>
          <a:bodyPr/>
          <a:lstStyle/>
          <a:p>
            <a:fld id="{6247B1CE-A74C-4CBB-9FDB-78A3B6F4C532}" type="slidenum">
              <a:rPr lang="zh-CN" altLang="en-US" smtClean="0"/>
              <a:t>‹#›</a:t>
            </a:fld>
            <a:endParaRPr lang="zh-CN" altLang="en-US"/>
          </a:p>
        </p:txBody>
      </p:sp>
    </p:spTree>
    <p:extLst>
      <p:ext uri="{BB962C8B-B14F-4D97-AF65-F5344CB8AC3E}">
        <p14:creationId xmlns:p14="http://schemas.microsoft.com/office/powerpoint/2010/main" val="18272582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7029FC-BB1F-48B2-B352-7CD1EBCDB031}"/>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A1F6D45-24E2-4049-ACA6-40C75B4656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1AC02A6-C8B5-489F-942E-23996039A8AB}"/>
              </a:ext>
            </a:extLst>
          </p:cNvPr>
          <p:cNvSpPr>
            <a:spLocks noGrp="1"/>
          </p:cNvSpPr>
          <p:nvPr>
            <p:ph type="dt" sz="half" idx="10"/>
          </p:nvPr>
        </p:nvSpPr>
        <p:spPr/>
        <p:txBody>
          <a:bodyPr/>
          <a:lstStyle/>
          <a:p>
            <a:fld id="{F414857B-7513-4B42-8BF0-0A34CAC59413}" type="datetimeFigureOut">
              <a:rPr lang="zh-CN" altLang="en-US" smtClean="0"/>
              <a:t>2020/12/14</a:t>
            </a:fld>
            <a:endParaRPr lang="zh-CN" altLang="en-US"/>
          </a:p>
        </p:txBody>
      </p:sp>
      <p:sp>
        <p:nvSpPr>
          <p:cNvPr id="5" name="页脚占位符 4">
            <a:extLst>
              <a:ext uri="{FF2B5EF4-FFF2-40B4-BE49-F238E27FC236}">
                <a16:creationId xmlns:a16="http://schemas.microsoft.com/office/drawing/2014/main" id="{83668982-8C23-474B-B824-2879EDCB163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1403F19-5A36-46EE-8CBA-781284D1D4CA}"/>
              </a:ext>
            </a:extLst>
          </p:cNvPr>
          <p:cNvSpPr>
            <a:spLocks noGrp="1"/>
          </p:cNvSpPr>
          <p:nvPr>
            <p:ph type="sldNum" sz="quarter" idx="12"/>
          </p:nvPr>
        </p:nvSpPr>
        <p:spPr/>
        <p:txBody>
          <a:bodyPr/>
          <a:lstStyle/>
          <a:p>
            <a:fld id="{6247B1CE-A74C-4CBB-9FDB-78A3B6F4C532}" type="slidenum">
              <a:rPr lang="zh-CN" altLang="en-US" smtClean="0"/>
              <a:t>‹#›</a:t>
            </a:fld>
            <a:endParaRPr lang="zh-CN" altLang="en-US"/>
          </a:p>
        </p:txBody>
      </p:sp>
    </p:spTree>
    <p:extLst>
      <p:ext uri="{BB962C8B-B14F-4D97-AF65-F5344CB8AC3E}">
        <p14:creationId xmlns:p14="http://schemas.microsoft.com/office/powerpoint/2010/main" val="3324740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C1D676-39B0-42C2-8BCB-A4635AB59D3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E4CCF7D-963D-4C6F-9195-6E6B35F4216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1A506AD5-CD07-46D6-8F8A-7DD6D683748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9A6B2A7-C6B6-4540-93BD-044DA3DFA24A}"/>
              </a:ext>
            </a:extLst>
          </p:cNvPr>
          <p:cNvSpPr>
            <a:spLocks noGrp="1"/>
          </p:cNvSpPr>
          <p:nvPr>
            <p:ph type="dt" sz="half" idx="10"/>
          </p:nvPr>
        </p:nvSpPr>
        <p:spPr/>
        <p:txBody>
          <a:bodyPr/>
          <a:lstStyle/>
          <a:p>
            <a:fld id="{F414857B-7513-4B42-8BF0-0A34CAC59413}" type="datetimeFigureOut">
              <a:rPr lang="zh-CN" altLang="en-US" smtClean="0"/>
              <a:t>2020/12/14</a:t>
            </a:fld>
            <a:endParaRPr lang="zh-CN" altLang="en-US"/>
          </a:p>
        </p:txBody>
      </p:sp>
      <p:sp>
        <p:nvSpPr>
          <p:cNvPr id="6" name="页脚占位符 5">
            <a:extLst>
              <a:ext uri="{FF2B5EF4-FFF2-40B4-BE49-F238E27FC236}">
                <a16:creationId xmlns:a16="http://schemas.microsoft.com/office/drawing/2014/main" id="{DB69E4FC-4E00-4BE6-A2CA-2017D424574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F2AC64D-A03D-4628-844F-C615CF973C40}"/>
              </a:ext>
            </a:extLst>
          </p:cNvPr>
          <p:cNvSpPr>
            <a:spLocks noGrp="1"/>
          </p:cNvSpPr>
          <p:nvPr>
            <p:ph type="sldNum" sz="quarter" idx="12"/>
          </p:nvPr>
        </p:nvSpPr>
        <p:spPr/>
        <p:txBody>
          <a:bodyPr/>
          <a:lstStyle/>
          <a:p>
            <a:fld id="{6247B1CE-A74C-4CBB-9FDB-78A3B6F4C532}" type="slidenum">
              <a:rPr lang="zh-CN" altLang="en-US" smtClean="0"/>
              <a:t>‹#›</a:t>
            </a:fld>
            <a:endParaRPr lang="zh-CN" altLang="en-US"/>
          </a:p>
        </p:txBody>
      </p:sp>
    </p:spTree>
    <p:extLst>
      <p:ext uri="{BB962C8B-B14F-4D97-AF65-F5344CB8AC3E}">
        <p14:creationId xmlns:p14="http://schemas.microsoft.com/office/powerpoint/2010/main" val="25737106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23CEBA-6D5B-4E00-9145-6C5C9B9C8B1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EAC9497-6654-4314-85D1-9D0E31A6C6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AD72210-6BEF-4A10-BE49-EC7AFB113E35}"/>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7BA21CB-EDEC-4A41-9BFE-BBFA2B93B8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9612E95-846B-4AE3-8B50-79AF3DB9E11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12E1D423-95D5-4FAE-8ED8-0108C60A83C0}"/>
              </a:ext>
            </a:extLst>
          </p:cNvPr>
          <p:cNvSpPr>
            <a:spLocks noGrp="1"/>
          </p:cNvSpPr>
          <p:nvPr>
            <p:ph type="dt" sz="half" idx="10"/>
          </p:nvPr>
        </p:nvSpPr>
        <p:spPr/>
        <p:txBody>
          <a:bodyPr/>
          <a:lstStyle/>
          <a:p>
            <a:fld id="{F414857B-7513-4B42-8BF0-0A34CAC59413}" type="datetimeFigureOut">
              <a:rPr lang="zh-CN" altLang="en-US" smtClean="0"/>
              <a:t>2020/12/14</a:t>
            </a:fld>
            <a:endParaRPr lang="zh-CN" altLang="en-US"/>
          </a:p>
        </p:txBody>
      </p:sp>
      <p:sp>
        <p:nvSpPr>
          <p:cNvPr id="8" name="页脚占位符 7">
            <a:extLst>
              <a:ext uri="{FF2B5EF4-FFF2-40B4-BE49-F238E27FC236}">
                <a16:creationId xmlns:a16="http://schemas.microsoft.com/office/drawing/2014/main" id="{B1AE8435-AA78-4613-BC89-FD2848AA74F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029E920-ED19-4D88-A9A7-975ED552A6AC}"/>
              </a:ext>
            </a:extLst>
          </p:cNvPr>
          <p:cNvSpPr>
            <a:spLocks noGrp="1"/>
          </p:cNvSpPr>
          <p:nvPr>
            <p:ph type="sldNum" sz="quarter" idx="12"/>
          </p:nvPr>
        </p:nvSpPr>
        <p:spPr/>
        <p:txBody>
          <a:bodyPr/>
          <a:lstStyle/>
          <a:p>
            <a:fld id="{6247B1CE-A74C-4CBB-9FDB-78A3B6F4C532}" type="slidenum">
              <a:rPr lang="zh-CN" altLang="en-US" smtClean="0"/>
              <a:t>‹#›</a:t>
            </a:fld>
            <a:endParaRPr lang="zh-CN" altLang="en-US"/>
          </a:p>
        </p:txBody>
      </p:sp>
    </p:spTree>
    <p:extLst>
      <p:ext uri="{BB962C8B-B14F-4D97-AF65-F5344CB8AC3E}">
        <p14:creationId xmlns:p14="http://schemas.microsoft.com/office/powerpoint/2010/main" val="3470962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69EC7E-3FA6-4386-9942-E3CCF3AFBDC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EBA9A79-2B29-4B66-9F39-8797F6369583}"/>
              </a:ext>
            </a:extLst>
          </p:cNvPr>
          <p:cNvSpPr>
            <a:spLocks noGrp="1"/>
          </p:cNvSpPr>
          <p:nvPr>
            <p:ph type="dt" sz="half" idx="10"/>
          </p:nvPr>
        </p:nvSpPr>
        <p:spPr/>
        <p:txBody>
          <a:bodyPr/>
          <a:lstStyle/>
          <a:p>
            <a:fld id="{F414857B-7513-4B42-8BF0-0A34CAC59413}" type="datetimeFigureOut">
              <a:rPr lang="zh-CN" altLang="en-US" smtClean="0"/>
              <a:t>2020/12/14</a:t>
            </a:fld>
            <a:endParaRPr lang="zh-CN" altLang="en-US"/>
          </a:p>
        </p:txBody>
      </p:sp>
      <p:sp>
        <p:nvSpPr>
          <p:cNvPr id="4" name="页脚占位符 3">
            <a:extLst>
              <a:ext uri="{FF2B5EF4-FFF2-40B4-BE49-F238E27FC236}">
                <a16:creationId xmlns:a16="http://schemas.microsoft.com/office/drawing/2014/main" id="{471160FE-D463-4ED4-AA38-EA548015D53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3A4A50E-CB54-472F-9CE4-D13D36C67A9C}"/>
              </a:ext>
            </a:extLst>
          </p:cNvPr>
          <p:cNvSpPr>
            <a:spLocks noGrp="1"/>
          </p:cNvSpPr>
          <p:nvPr>
            <p:ph type="sldNum" sz="quarter" idx="12"/>
          </p:nvPr>
        </p:nvSpPr>
        <p:spPr/>
        <p:txBody>
          <a:bodyPr/>
          <a:lstStyle/>
          <a:p>
            <a:fld id="{6247B1CE-A74C-4CBB-9FDB-78A3B6F4C532}" type="slidenum">
              <a:rPr lang="zh-CN" altLang="en-US" smtClean="0"/>
              <a:t>‹#›</a:t>
            </a:fld>
            <a:endParaRPr lang="zh-CN" altLang="en-US"/>
          </a:p>
        </p:txBody>
      </p:sp>
    </p:spTree>
    <p:extLst>
      <p:ext uri="{BB962C8B-B14F-4D97-AF65-F5344CB8AC3E}">
        <p14:creationId xmlns:p14="http://schemas.microsoft.com/office/powerpoint/2010/main" val="2321782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425406C-FAD0-4A29-9C72-1E43C827681F}"/>
              </a:ext>
            </a:extLst>
          </p:cNvPr>
          <p:cNvSpPr>
            <a:spLocks noGrp="1"/>
          </p:cNvSpPr>
          <p:nvPr>
            <p:ph type="dt" sz="half" idx="10"/>
          </p:nvPr>
        </p:nvSpPr>
        <p:spPr/>
        <p:txBody>
          <a:bodyPr/>
          <a:lstStyle/>
          <a:p>
            <a:fld id="{F414857B-7513-4B42-8BF0-0A34CAC59413}" type="datetimeFigureOut">
              <a:rPr lang="zh-CN" altLang="en-US" smtClean="0"/>
              <a:t>2020/12/14</a:t>
            </a:fld>
            <a:endParaRPr lang="zh-CN" altLang="en-US"/>
          </a:p>
        </p:txBody>
      </p:sp>
      <p:sp>
        <p:nvSpPr>
          <p:cNvPr id="3" name="页脚占位符 2">
            <a:extLst>
              <a:ext uri="{FF2B5EF4-FFF2-40B4-BE49-F238E27FC236}">
                <a16:creationId xmlns:a16="http://schemas.microsoft.com/office/drawing/2014/main" id="{9E7E4B63-6AA0-4EA8-9244-968C0B3BBE9E}"/>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B979A6A4-F92F-4D0C-AF7E-82E4BE346292}"/>
              </a:ext>
            </a:extLst>
          </p:cNvPr>
          <p:cNvSpPr>
            <a:spLocks noGrp="1"/>
          </p:cNvSpPr>
          <p:nvPr>
            <p:ph type="sldNum" sz="quarter" idx="12"/>
          </p:nvPr>
        </p:nvSpPr>
        <p:spPr/>
        <p:txBody>
          <a:bodyPr/>
          <a:lstStyle/>
          <a:p>
            <a:fld id="{6247B1CE-A74C-4CBB-9FDB-78A3B6F4C532}" type="slidenum">
              <a:rPr lang="zh-CN" altLang="en-US" smtClean="0"/>
              <a:t>‹#›</a:t>
            </a:fld>
            <a:endParaRPr lang="zh-CN" altLang="en-US"/>
          </a:p>
        </p:txBody>
      </p:sp>
    </p:spTree>
    <p:extLst>
      <p:ext uri="{BB962C8B-B14F-4D97-AF65-F5344CB8AC3E}">
        <p14:creationId xmlns:p14="http://schemas.microsoft.com/office/powerpoint/2010/main" val="488208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07010A-02D9-4FFC-902F-977721F0663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162723E-7F18-4AE3-9899-F6F171C5C5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EE261DB-CD8E-4DA9-A017-2C67A63029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F0C8E2F-5179-4678-B893-95D4E17D19BC}"/>
              </a:ext>
            </a:extLst>
          </p:cNvPr>
          <p:cNvSpPr>
            <a:spLocks noGrp="1"/>
          </p:cNvSpPr>
          <p:nvPr>
            <p:ph type="dt" sz="half" idx="10"/>
          </p:nvPr>
        </p:nvSpPr>
        <p:spPr/>
        <p:txBody>
          <a:bodyPr/>
          <a:lstStyle/>
          <a:p>
            <a:fld id="{F414857B-7513-4B42-8BF0-0A34CAC59413}" type="datetimeFigureOut">
              <a:rPr lang="zh-CN" altLang="en-US" smtClean="0"/>
              <a:t>2020/12/14</a:t>
            </a:fld>
            <a:endParaRPr lang="zh-CN" altLang="en-US"/>
          </a:p>
        </p:txBody>
      </p:sp>
      <p:sp>
        <p:nvSpPr>
          <p:cNvPr id="6" name="页脚占位符 5">
            <a:extLst>
              <a:ext uri="{FF2B5EF4-FFF2-40B4-BE49-F238E27FC236}">
                <a16:creationId xmlns:a16="http://schemas.microsoft.com/office/drawing/2014/main" id="{3D94C1E9-F988-4DCF-A82F-464E7E5A3A0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BC74B2A-3437-4FE8-A6B8-E91E2B2445A3}"/>
              </a:ext>
            </a:extLst>
          </p:cNvPr>
          <p:cNvSpPr>
            <a:spLocks noGrp="1"/>
          </p:cNvSpPr>
          <p:nvPr>
            <p:ph type="sldNum" sz="quarter" idx="12"/>
          </p:nvPr>
        </p:nvSpPr>
        <p:spPr/>
        <p:txBody>
          <a:bodyPr/>
          <a:lstStyle/>
          <a:p>
            <a:fld id="{6247B1CE-A74C-4CBB-9FDB-78A3B6F4C532}" type="slidenum">
              <a:rPr lang="zh-CN" altLang="en-US" smtClean="0"/>
              <a:t>‹#›</a:t>
            </a:fld>
            <a:endParaRPr lang="zh-CN" altLang="en-US"/>
          </a:p>
        </p:txBody>
      </p:sp>
    </p:spTree>
    <p:extLst>
      <p:ext uri="{BB962C8B-B14F-4D97-AF65-F5344CB8AC3E}">
        <p14:creationId xmlns:p14="http://schemas.microsoft.com/office/powerpoint/2010/main" val="14824360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089D13-D2CC-4C02-9A11-7C1FA0C0149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92C5BEB1-8A4C-4C99-9D65-6C7534E472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C3050FE9-F2C9-4105-9F16-77D1CEDA21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D7F74D2-1034-421B-B245-071C07C1CF0F}"/>
              </a:ext>
            </a:extLst>
          </p:cNvPr>
          <p:cNvSpPr>
            <a:spLocks noGrp="1"/>
          </p:cNvSpPr>
          <p:nvPr>
            <p:ph type="dt" sz="half" idx="10"/>
          </p:nvPr>
        </p:nvSpPr>
        <p:spPr/>
        <p:txBody>
          <a:bodyPr/>
          <a:lstStyle/>
          <a:p>
            <a:fld id="{F414857B-7513-4B42-8BF0-0A34CAC59413}" type="datetimeFigureOut">
              <a:rPr lang="zh-CN" altLang="en-US" smtClean="0"/>
              <a:t>2020/12/14</a:t>
            </a:fld>
            <a:endParaRPr lang="zh-CN" altLang="en-US"/>
          </a:p>
        </p:txBody>
      </p:sp>
      <p:sp>
        <p:nvSpPr>
          <p:cNvPr id="6" name="页脚占位符 5">
            <a:extLst>
              <a:ext uri="{FF2B5EF4-FFF2-40B4-BE49-F238E27FC236}">
                <a16:creationId xmlns:a16="http://schemas.microsoft.com/office/drawing/2014/main" id="{9DF044E1-E097-4E56-A77D-0AD479D4B0E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4E19ABA-2500-43A9-BB50-3B6BA82CA58D}"/>
              </a:ext>
            </a:extLst>
          </p:cNvPr>
          <p:cNvSpPr>
            <a:spLocks noGrp="1"/>
          </p:cNvSpPr>
          <p:nvPr>
            <p:ph type="sldNum" sz="quarter" idx="12"/>
          </p:nvPr>
        </p:nvSpPr>
        <p:spPr/>
        <p:txBody>
          <a:bodyPr/>
          <a:lstStyle/>
          <a:p>
            <a:fld id="{6247B1CE-A74C-4CBB-9FDB-78A3B6F4C532}" type="slidenum">
              <a:rPr lang="zh-CN" altLang="en-US" smtClean="0"/>
              <a:t>‹#›</a:t>
            </a:fld>
            <a:endParaRPr lang="zh-CN" altLang="en-US"/>
          </a:p>
        </p:txBody>
      </p:sp>
    </p:spTree>
    <p:extLst>
      <p:ext uri="{BB962C8B-B14F-4D97-AF65-F5344CB8AC3E}">
        <p14:creationId xmlns:p14="http://schemas.microsoft.com/office/powerpoint/2010/main" val="1531454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75A830-E9CB-4658-9FAA-5C03FB64509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6FCDF32-9775-41AE-8ABF-AAD8BD8FD95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A1DC550-52FC-49BF-9172-CB85CEDBC25B}"/>
              </a:ext>
            </a:extLst>
          </p:cNvPr>
          <p:cNvSpPr>
            <a:spLocks noGrp="1"/>
          </p:cNvSpPr>
          <p:nvPr>
            <p:ph type="dt" sz="half" idx="10"/>
          </p:nvPr>
        </p:nvSpPr>
        <p:spPr/>
        <p:txBody>
          <a:bodyPr/>
          <a:lstStyle/>
          <a:p>
            <a:fld id="{F414857B-7513-4B42-8BF0-0A34CAC59413}" type="datetimeFigureOut">
              <a:rPr lang="zh-CN" altLang="en-US" smtClean="0"/>
              <a:t>2020/12/14</a:t>
            </a:fld>
            <a:endParaRPr lang="zh-CN" altLang="en-US"/>
          </a:p>
        </p:txBody>
      </p:sp>
      <p:sp>
        <p:nvSpPr>
          <p:cNvPr id="5" name="页脚占位符 4">
            <a:extLst>
              <a:ext uri="{FF2B5EF4-FFF2-40B4-BE49-F238E27FC236}">
                <a16:creationId xmlns:a16="http://schemas.microsoft.com/office/drawing/2014/main" id="{809D51FB-E02D-4528-A3B1-87BEF9D0B65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1ECC737-D7F4-49E8-B23F-46134AEE464B}"/>
              </a:ext>
            </a:extLst>
          </p:cNvPr>
          <p:cNvSpPr>
            <a:spLocks noGrp="1"/>
          </p:cNvSpPr>
          <p:nvPr>
            <p:ph type="sldNum" sz="quarter" idx="12"/>
          </p:nvPr>
        </p:nvSpPr>
        <p:spPr/>
        <p:txBody>
          <a:bodyPr/>
          <a:lstStyle/>
          <a:p>
            <a:fld id="{6247B1CE-A74C-4CBB-9FDB-78A3B6F4C532}" type="slidenum">
              <a:rPr lang="zh-CN" altLang="en-US" smtClean="0"/>
              <a:t>‹#›</a:t>
            </a:fld>
            <a:endParaRPr lang="zh-CN" altLang="en-US"/>
          </a:p>
        </p:txBody>
      </p:sp>
    </p:spTree>
    <p:extLst>
      <p:ext uri="{BB962C8B-B14F-4D97-AF65-F5344CB8AC3E}">
        <p14:creationId xmlns:p14="http://schemas.microsoft.com/office/powerpoint/2010/main" val="2404920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97CDEAF-6040-49DD-BBAF-4B9527916A5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6FF05C8-4634-4A18-88CD-93AD5B6CDCA7}"/>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B47482A-92D1-4F71-8678-A580F23349BB}"/>
              </a:ext>
            </a:extLst>
          </p:cNvPr>
          <p:cNvSpPr>
            <a:spLocks noGrp="1"/>
          </p:cNvSpPr>
          <p:nvPr>
            <p:ph type="dt" sz="half" idx="10"/>
          </p:nvPr>
        </p:nvSpPr>
        <p:spPr/>
        <p:txBody>
          <a:bodyPr/>
          <a:lstStyle/>
          <a:p>
            <a:fld id="{F414857B-7513-4B42-8BF0-0A34CAC59413}" type="datetimeFigureOut">
              <a:rPr lang="zh-CN" altLang="en-US" smtClean="0"/>
              <a:t>2020/12/14</a:t>
            </a:fld>
            <a:endParaRPr lang="zh-CN" altLang="en-US"/>
          </a:p>
        </p:txBody>
      </p:sp>
      <p:sp>
        <p:nvSpPr>
          <p:cNvPr id="5" name="页脚占位符 4">
            <a:extLst>
              <a:ext uri="{FF2B5EF4-FFF2-40B4-BE49-F238E27FC236}">
                <a16:creationId xmlns:a16="http://schemas.microsoft.com/office/drawing/2014/main" id="{BF60F867-E121-4854-BD01-8B53DB3C7A7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A0531E5-D402-4852-8E4E-B937C176812D}"/>
              </a:ext>
            </a:extLst>
          </p:cNvPr>
          <p:cNvSpPr>
            <a:spLocks noGrp="1"/>
          </p:cNvSpPr>
          <p:nvPr>
            <p:ph type="sldNum" sz="quarter" idx="12"/>
          </p:nvPr>
        </p:nvSpPr>
        <p:spPr/>
        <p:txBody>
          <a:bodyPr/>
          <a:lstStyle/>
          <a:p>
            <a:fld id="{6247B1CE-A74C-4CBB-9FDB-78A3B6F4C532}" type="slidenum">
              <a:rPr lang="zh-CN" altLang="en-US" smtClean="0"/>
              <a:t>‹#›</a:t>
            </a:fld>
            <a:endParaRPr lang="zh-CN" altLang="en-US"/>
          </a:p>
        </p:txBody>
      </p:sp>
    </p:spTree>
    <p:extLst>
      <p:ext uri="{BB962C8B-B14F-4D97-AF65-F5344CB8AC3E}">
        <p14:creationId xmlns:p14="http://schemas.microsoft.com/office/powerpoint/2010/main" val="858989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177C435-E790-4B64-A41E-212CD60C1B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1B754499-64AC-4AF7-9685-B7B0271BC7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781D33A-4FA6-4C8F-80AE-95B938A980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14857B-7513-4B42-8BF0-0A34CAC59413}" type="datetimeFigureOut">
              <a:rPr lang="zh-CN" altLang="en-US" smtClean="0"/>
              <a:t>2020/12/14</a:t>
            </a:fld>
            <a:endParaRPr lang="zh-CN" altLang="en-US"/>
          </a:p>
        </p:txBody>
      </p:sp>
      <p:sp>
        <p:nvSpPr>
          <p:cNvPr id="5" name="页脚占位符 4">
            <a:extLst>
              <a:ext uri="{FF2B5EF4-FFF2-40B4-BE49-F238E27FC236}">
                <a16:creationId xmlns:a16="http://schemas.microsoft.com/office/drawing/2014/main" id="{B6581152-14F3-4C14-AA42-987A396FD3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536DA36-7A30-44B5-A357-6CA037504A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47B1CE-A74C-4CBB-9FDB-78A3B6F4C532}" type="slidenum">
              <a:rPr lang="zh-CN" altLang="en-US" smtClean="0"/>
              <a:t>‹#›</a:t>
            </a:fld>
            <a:endParaRPr lang="zh-CN" altLang="en-US"/>
          </a:p>
        </p:txBody>
      </p:sp>
    </p:spTree>
    <p:extLst>
      <p:ext uri="{BB962C8B-B14F-4D97-AF65-F5344CB8AC3E}">
        <p14:creationId xmlns:p14="http://schemas.microsoft.com/office/powerpoint/2010/main" val="16736307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hyperlink" Target="https://mp.weixin.qq.com/s/6qqFAQBaOFuXtaeRSmQgsQ" TargetMode="External"/><Relationship Id="rId3" Type="http://schemas.openxmlformats.org/officeDocument/2006/relationships/image" Target="../media/image5.png"/><Relationship Id="rId7" Type="http://schemas.openxmlformats.org/officeDocument/2006/relationships/hyperlink" Target="https://mp.weixin.qq.com/s/-Vtl_8nND7WCPLdL5bNlMw"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untitled-ai.github.io/understanding-self-supervised-contrastive-learning.html" TargetMode="External"/><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hyperlink" Target="https://www.zhihu.com/question/402452508/answer/1294166177"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arxiv.org/abs/2010.10241" TargetMode="External"/><Relationship Id="rId5" Type="http://schemas.openxmlformats.org/officeDocument/2006/relationships/hyperlink" Target="https://untitled-ai.github.io/understanding-self-supervised-contrastive-learning.html" TargetMode="Externa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hyperlink" Target="https://mp.weixin.qq.com/s/-Vtl_8nND7WCPLdL5bNlMw" TargetMode="Externa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hyperlink" Target="https://untitled-ai.github.io/understanding-self-supervised-contrastive-learning.html" TargetMode="Externa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hyperlink" Target="https://mp.weixin.qq.com/s/-Vtl_8nND7WCPLdL5bNlMw" TargetMode="External"/><Relationship Id="rId3" Type="http://schemas.openxmlformats.org/officeDocument/2006/relationships/image" Target="../media/image23.png"/><Relationship Id="rId7" Type="http://schemas.openxmlformats.org/officeDocument/2006/relationships/hyperlink" Target="https://untitled-ai.github.io/understanding-self-supervised-contrastive-learning.html"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mp.weixin.qq.com/s/6qqFAQBaOFuXtaeRSmQgsQ" TargetMode="External"/><Relationship Id="rId2" Type="http://schemas.openxmlformats.org/officeDocument/2006/relationships/hyperlink" Target="https://untitled-ai.github.io/understanding-self-supervised-contrastive-learning.html" TargetMode="External"/><Relationship Id="rId1" Type="http://schemas.openxmlformats.org/officeDocument/2006/relationships/slideLayout" Target="../slideLayouts/slideLayout2.xml"/><Relationship Id="rId4" Type="http://schemas.openxmlformats.org/officeDocument/2006/relationships/hyperlink" Target="https://mp.weixin.qq.com/s/-Vtl_8nND7WCPLdL5bNlM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F304D2-948A-43EF-A11C-1E858225B623}"/>
              </a:ext>
            </a:extLst>
          </p:cNvPr>
          <p:cNvSpPr>
            <a:spLocks noGrp="1"/>
          </p:cNvSpPr>
          <p:nvPr>
            <p:ph type="ctrTitle"/>
          </p:nvPr>
        </p:nvSpPr>
        <p:spPr>
          <a:xfrm>
            <a:off x="1077985" y="1820411"/>
            <a:ext cx="10036029" cy="739265"/>
          </a:xfrm>
        </p:spPr>
        <p:txBody>
          <a:bodyPr>
            <a:noAutofit/>
          </a:bodyPr>
          <a:lstStyle/>
          <a:p>
            <a:r>
              <a:rPr lang="en-US" altLang="zh-CN" sz="3600" dirty="0">
                <a:latin typeface="Times New Roman" panose="02020603050405020304" pitchFamily="18" charset="0"/>
                <a:cs typeface="Times New Roman" panose="02020603050405020304" pitchFamily="18" charset="0"/>
              </a:rPr>
              <a:t>Exploring Simple Siamese Representation Learning</a:t>
            </a:r>
            <a:endParaRPr lang="zh-CN" altLang="en-US" sz="3600" dirty="0">
              <a:latin typeface="Times New Roman" panose="02020603050405020304" pitchFamily="18" charset="0"/>
              <a:cs typeface="Times New Roman" panose="02020603050405020304" pitchFamily="18" charset="0"/>
            </a:endParaRPr>
          </a:p>
        </p:txBody>
      </p:sp>
      <p:sp>
        <p:nvSpPr>
          <p:cNvPr id="3" name="副标题 2">
            <a:extLst>
              <a:ext uri="{FF2B5EF4-FFF2-40B4-BE49-F238E27FC236}">
                <a16:creationId xmlns:a16="http://schemas.microsoft.com/office/drawing/2014/main" id="{045115B8-0782-4E2C-A910-305721003B97}"/>
              </a:ext>
            </a:extLst>
          </p:cNvPr>
          <p:cNvSpPr>
            <a:spLocks noGrp="1"/>
          </p:cNvSpPr>
          <p:nvPr>
            <p:ph type="subTitle" idx="1"/>
          </p:nvPr>
        </p:nvSpPr>
        <p:spPr>
          <a:xfrm>
            <a:off x="1524000" y="3602038"/>
            <a:ext cx="9144000" cy="2841292"/>
          </a:xfrm>
        </p:spPr>
        <p:txBody>
          <a:bodyPr>
            <a:normAutofit/>
          </a:bodyPr>
          <a:lstStyle/>
          <a:p>
            <a:r>
              <a:rPr lang="en-US" altLang="zh-CN" dirty="0">
                <a:latin typeface="Times New Roman" panose="02020603050405020304" pitchFamily="18" charset="0"/>
                <a:cs typeface="Times New Roman" panose="02020603050405020304" pitchFamily="18" charset="0"/>
              </a:rPr>
              <a:t>Chen, </a:t>
            </a:r>
            <a:r>
              <a:rPr lang="en-US" altLang="zh-CN" dirty="0" err="1">
                <a:latin typeface="Times New Roman" panose="02020603050405020304" pitchFamily="18" charset="0"/>
                <a:cs typeface="Times New Roman" panose="02020603050405020304" pitchFamily="18" charset="0"/>
              </a:rPr>
              <a:t>Xinlei</a:t>
            </a:r>
            <a:r>
              <a:rPr lang="en-US" altLang="zh-CN" dirty="0">
                <a:latin typeface="Times New Roman" panose="02020603050405020304" pitchFamily="18" charset="0"/>
                <a:cs typeface="Times New Roman" panose="02020603050405020304" pitchFamily="18" charset="0"/>
              </a:rPr>
              <a:t>; He, </a:t>
            </a:r>
            <a:r>
              <a:rPr lang="en-US" altLang="zh-CN" dirty="0" err="1">
                <a:latin typeface="Times New Roman" panose="02020603050405020304" pitchFamily="18" charset="0"/>
                <a:cs typeface="Times New Roman" panose="02020603050405020304" pitchFamily="18" charset="0"/>
              </a:rPr>
              <a:t>Kaiming</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(FAIR)</a:t>
            </a:r>
          </a:p>
          <a:p>
            <a:r>
              <a:rPr lang="en-US" altLang="zh-CN" dirty="0">
                <a:latin typeface="Times New Roman" panose="02020603050405020304" pitchFamily="18" charset="0"/>
                <a:cs typeface="Times New Roman" panose="02020603050405020304" pitchFamily="18" charset="0"/>
              </a:rPr>
              <a:t>(2020.11 </a:t>
            </a:r>
            <a:r>
              <a:rPr lang="en-US" altLang="zh-CN" dirty="0" err="1">
                <a:latin typeface="Times New Roman" panose="02020603050405020304" pitchFamily="18" charset="0"/>
                <a:cs typeface="Times New Roman" panose="02020603050405020304" pitchFamily="18" charset="0"/>
              </a:rPr>
              <a:t>Arxiv</a:t>
            </a:r>
            <a:r>
              <a:rPr lang="en-US" altLang="zh-CN">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4832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864BB7-14F3-450D-9395-6734C7032EF9}"/>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Outline</a:t>
            </a:r>
            <a:endParaRPr lang="zh-CN" altLang="en-US" dirty="0">
              <a:latin typeface="Times New Roman" panose="02020603050405020304" pitchFamily="18" charset="0"/>
              <a:cs typeface="Times New Roman" panose="02020603050405020304" pitchFamily="18" charset="0"/>
            </a:endParaRPr>
          </a:p>
        </p:txBody>
      </p:sp>
      <p:sp>
        <p:nvSpPr>
          <p:cNvPr id="3" name="内容占位符 2">
            <a:extLst>
              <a:ext uri="{FF2B5EF4-FFF2-40B4-BE49-F238E27FC236}">
                <a16:creationId xmlns:a16="http://schemas.microsoft.com/office/drawing/2014/main" id="{28A5A1C4-C8FF-4CCB-B842-33AC4120CC3A}"/>
              </a:ext>
            </a:extLst>
          </p:cNvPr>
          <p:cNvSpPr>
            <a:spLocks noGrp="1"/>
          </p:cNvSpPr>
          <p:nvPr>
            <p:ph idx="1"/>
          </p:nvPr>
        </p:nvSpPr>
        <p:spPr/>
        <p:txBody>
          <a:bodyPr/>
          <a:lstStyle/>
          <a:p>
            <a:r>
              <a:rPr lang="en-US" altLang="zh-CN" dirty="0">
                <a:latin typeface="Times New Roman" panose="02020603050405020304" pitchFamily="18" charset="0"/>
                <a:cs typeface="Times New Roman" panose="02020603050405020304" pitchFamily="18" charset="0"/>
              </a:rPr>
              <a:t>About contrastive learning, what and why?</a:t>
            </a:r>
          </a:p>
          <a:p>
            <a:r>
              <a:rPr lang="en-US" altLang="zh-CN" dirty="0">
                <a:latin typeface="Times New Roman" panose="02020603050405020304" pitchFamily="18" charset="0"/>
                <a:cs typeface="Times New Roman" panose="02020603050405020304" pitchFamily="18" charset="0"/>
              </a:rPr>
              <a:t>Related Work</a:t>
            </a:r>
          </a:p>
          <a:p>
            <a:r>
              <a:rPr lang="en-US" altLang="zh-CN" dirty="0">
                <a:latin typeface="Times New Roman" panose="02020603050405020304" pitchFamily="18" charset="0"/>
                <a:cs typeface="Times New Roman" panose="02020603050405020304" pitchFamily="18" charset="0"/>
              </a:rPr>
              <a:t>Motivation</a:t>
            </a:r>
          </a:p>
          <a:p>
            <a:r>
              <a:rPr lang="en-US" altLang="zh-CN" dirty="0">
                <a:latin typeface="Times New Roman" panose="02020603050405020304" pitchFamily="18" charset="0"/>
                <a:cs typeface="Times New Roman" panose="02020603050405020304" pitchFamily="18" charset="0"/>
              </a:rPr>
              <a:t>This paper: </a:t>
            </a:r>
            <a:r>
              <a:rPr lang="en-US" altLang="zh-CN" dirty="0" err="1">
                <a:latin typeface="Times New Roman" panose="02020603050405020304" pitchFamily="18" charset="0"/>
                <a:cs typeface="Times New Roman" panose="02020603050405020304" pitchFamily="18" charset="0"/>
              </a:rPr>
              <a:t>SimSiam</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Experiments</a:t>
            </a:r>
          </a:p>
          <a:p>
            <a:r>
              <a:rPr lang="en-US" altLang="zh-CN" dirty="0">
                <a:latin typeface="Times New Roman" panose="02020603050405020304" pitchFamily="18" charset="0"/>
                <a:cs typeface="Times New Roman" panose="02020603050405020304" pitchFamily="18" charset="0"/>
              </a:rPr>
              <a:t>Analysis &amp; Why this paper?</a:t>
            </a:r>
          </a:p>
        </p:txBody>
      </p:sp>
    </p:spTree>
    <p:extLst>
      <p:ext uri="{BB962C8B-B14F-4D97-AF65-F5344CB8AC3E}">
        <p14:creationId xmlns:p14="http://schemas.microsoft.com/office/powerpoint/2010/main" val="2421720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About contrastive learning, what and why?</a:t>
            </a:r>
            <a:endParaRPr lang="zh-CN" altLang="en-US" dirty="0">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838200" y="1555802"/>
            <a:ext cx="10515600" cy="4351338"/>
          </a:xfrm>
        </p:spPr>
        <p:txBody>
          <a:bodyPr/>
          <a:lstStyle/>
          <a:p>
            <a:r>
              <a:rPr lang="en-US" altLang="zh-CN" dirty="0">
                <a:latin typeface="Times New Roman" panose="02020603050405020304" pitchFamily="18" charset="0"/>
                <a:cs typeface="Times New Roman" panose="02020603050405020304" pitchFamily="18" charset="0"/>
              </a:rPr>
              <a:t>Contrastive learning belongs to self-supervised learning</a:t>
            </a:r>
          </a:p>
          <a:p>
            <a:r>
              <a:rPr lang="en-US" altLang="zh-CN" dirty="0">
                <a:latin typeface="Times New Roman" panose="02020603050405020304" pitchFamily="18" charset="0"/>
                <a:cs typeface="Times New Roman" panose="02020603050405020304" pitchFamily="18" charset="0"/>
              </a:rPr>
              <a:t>What is self-supervised learning?</a:t>
            </a:r>
          </a:p>
          <a:p>
            <a:pPr lvl="1"/>
            <a:r>
              <a:rPr lang="en-US" altLang="zh-CN" dirty="0">
                <a:latin typeface="Times New Roman" panose="02020603050405020304" pitchFamily="18" charset="0"/>
                <a:cs typeface="Times New Roman" panose="02020603050405020304" pitchFamily="18" charset="0"/>
              </a:rPr>
              <a:t>Learn a function that maps the input data onto itself. (e.g. jigsaw puzzle, rotation angle prediction, contrastive learning)</a:t>
            </a:r>
          </a:p>
          <a:p>
            <a:r>
              <a:rPr lang="en-US" altLang="zh-CN" dirty="0">
                <a:latin typeface="Times New Roman" panose="02020603050405020304" pitchFamily="18" charset="0"/>
                <a:cs typeface="Times New Roman" panose="02020603050405020304" pitchFamily="18" charset="0"/>
              </a:rPr>
              <a:t>Why self-supervised learning?</a:t>
            </a:r>
          </a:p>
          <a:p>
            <a:pPr lvl="1"/>
            <a:r>
              <a:rPr lang="en-US" altLang="zh-CN" b="1" dirty="0">
                <a:latin typeface="Times New Roman" panose="02020603050405020304" pitchFamily="18" charset="0"/>
                <a:cs typeface="Times New Roman" panose="02020603050405020304" pitchFamily="18" charset="0"/>
              </a:rPr>
              <a:t>Learn a strong representation by using a large amount of unlabeled data.</a:t>
            </a:r>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p:txBody>
      </p:sp>
      <p:pic>
        <p:nvPicPr>
          <p:cNvPr id="5" name="图片 4"/>
          <p:cNvPicPr>
            <a:picLocks noChangeAspect="1"/>
          </p:cNvPicPr>
          <p:nvPr/>
        </p:nvPicPr>
        <p:blipFill>
          <a:blip r:embed="rId3"/>
          <a:stretch>
            <a:fillRect/>
          </a:stretch>
        </p:blipFill>
        <p:spPr>
          <a:xfrm>
            <a:off x="8302712" y="4278470"/>
            <a:ext cx="3233142" cy="2128213"/>
          </a:xfrm>
          <a:prstGeom prst="rect">
            <a:avLst/>
          </a:prstGeom>
        </p:spPr>
      </p:pic>
      <p:sp>
        <p:nvSpPr>
          <p:cNvPr id="6" name="文本框 5"/>
          <p:cNvSpPr txBox="1"/>
          <p:nvPr/>
        </p:nvSpPr>
        <p:spPr>
          <a:xfrm>
            <a:off x="2215569" y="6483442"/>
            <a:ext cx="3624044" cy="369332"/>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Jigsaw puzzle</a:t>
            </a:r>
            <a:endParaRPr lang="zh-CN" altLang="en-US" dirty="0">
              <a:latin typeface="Times New Roman" panose="02020603050405020304" pitchFamily="18" charset="0"/>
              <a:cs typeface="Times New Roman" panose="02020603050405020304" pitchFamily="18" charset="0"/>
            </a:endParaRPr>
          </a:p>
        </p:txBody>
      </p:sp>
      <p:pic>
        <p:nvPicPr>
          <p:cNvPr id="7" name="图片 6"/>
          <p:cNvPicPr>
            <a:picLocks noChangeAspect="1"/>
          </p:cNvPicPr>
          <p:nvPr/>
        </p:nvPicPr>
        <p:blipFill>
          <a:blip r:embed="rId4"/>
          <a:stretch>
            <a:fillRect/>
          </a:stretch>
        </p:blipFill>
        <p:spPr>
          <a:xfrm>
            <a:off x="570454" y="4351615"/>
            <a:ext cx="6914273" cy="1981925"/>
          </a:xfrm>
          <a:prstGeom prst="rect">
            <a:avLst/>
          </a:prstGeom>
        </p:spPr>
      </p:pic>
      <p:sp>
        <p:nvSpPr>
          <p:cNvPr id="8" name="文本框 7"/>
          <p:cNvSpPr txBox="1"/>
          <p:nvPr/>
        </p:nvSpPr>
        <p:spPr>
          <a:xfrm>
            <a:off x="8107261" y="6488668"/>
            <a:ext cx="3624044" cy="369332"/>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Rotation and location prediction</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0140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About contrastive learning, what and why?</a:t>
            </a:r>
            <a:endParaRPr lang="zh-CN" altLang="en-US" dirty="0">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838200" y="1414145"/>
            <a:ext cx="10515600" cy="4351338"/>
          </a:xfrm>
        </p:spPr>
        <p:txBody>
          <a:bodyPr/>
          <a:lstStyle/>
          <a:p>
            <a:r>
              <a:rPr lang="en-US" altLang="zh-CN" dirty="0">
                <a:latin typeface="Times New Roman" panose="02020603050405020304" pitchFamily="18" charset="0"/>
                <a:cs typeface="Times New Roman" panose="02020603050405020304" pitchFamily="18" charset="0"/>
              </a:rPr>
              <a:t>What is contrastive learning?</a:t>
            </a:r>
          </a:p>
          <a:p>
            <a:pPr lvl="1"/>
            <a:r>
              <a:rPr lang="en-US" altLang="zh-CN" dirty="0">
                <a:latin typeface="Times New Roman" panose="02020603050405020304" pitchFamily="18" charset="0"/>
                <a:cs typeface="Times New Roman" panose="02020603050405020304" pitchFamily="18" charset="0"/>
              </a:rPr>
              <a:t>Contrastive learning is the process of training a </a:t>
            </a:r>
            <a:r>
              <a:rPr lang="en-US" altLang="zh-CN" b="1" dirty="0">
                <a:latin typeface="Times New Roman" panose="02020603050405020304" pitchFamily="18" charset="0"/>
                <a:cs typeface="Times New Roman" panose="02020603050405020304" pitchFamily="18" charset="0"/>
              </a:rPr>
              <a:t>classifier</a:t>
            </a:r>
            <a:r>
              <a:rPr lang="en-US" altLang="zh-CN" dirty="0">
                <a:latin typeface="Times New Roman" panose="02020603050405020304" pitchFamily="18" charset="0"/>
                <a:cs typeface="Times New Roman" panose="02020603050405020304" pitchFamily="18" charset="0"/>
              </a:rPr>
              <a:t> to distinguish </a:t>
            </a:r>
            <a:r>
              <a:rPr lang="en-US" altLang="zh-CN" b="1" dirty="0">
                <a:latin typeface="Times New Roman" panose="02020603050405020304" pitchFamily="18" charset="0"/>
                <a:cs typeface="Times New Roman" panose="02020603050405020304" pitchFamily="18" charset="0"/>
              </a:rPr>
              <a:t>between “similar” and “dissimilar” </a:t>
            </a:r>
            <a:r>
              <a:rPr lang="en-US" altLang="zh-CN" dirty="0">
                <a:latin typeface="Times New Roman" panose="02020603050405020304" pitchFamily="18" charset="0"/>
                <a:cs typeface="Times New Roman" panose="02020603050405020304" pitchFamily="18" charset="0"/>
              </a:rPr>
              <a:t>input data.</a:t>
            </a:r>
          </a:p>
          <a:p>
            <a:pPr lvl="1"/>
            <a:r>
              <a:rPr lang="en-US" altLang="zh-CN" dirty="0">
                <a:latin typeface="Times New Roman" panose="02020603050405020304" pitchFamily="18" charset="0"/>
                <a:cs typeface="Times New Roman" panose="02020603050405020304" pitchFamily="18" charset="0"/>
              </a:rPr>
              <a:t>“similar”: different views of a single instance(image)</a:t>
            </a:r>
          </a:p>
          <a:p>
            <a:pPr lvl="1"/>
            <a:r>
              <a:rPr lang="en-US" altLang="zh-CN" dirty="0">
                <a:latin typeface="Times New Roman" panose="02020603050405020304" pitchFamily="18" charset="0"/>
                <a:cs typeface="Times New Roman" panose="02020603050405020304" pitchFamily="18" charset="0"/>
              </a:rPr>
              <a:t>“dissimilar”: different instance(image)</a:t>
            </a:r>
          </a:p>
          <a:p>
            <a:pPr lvl="1"/>
            <a:r>
              <a:rPr lang="en-US" altLang="zh-CN" dirty="0">
                <a:latin typeface="Times New Roman" panose="02020603050405020304" pitchFamily="18" charset="0"/>
                <a:cs typeface="Times New Roman" panose="02020603050405020304" pitchFamily="18" charset="0"/>
              </a:rPr>
              <a:t>A strong hypothesis</a:t>
            </a:r>
          </a:p>
          <a:p>
            <a:endParaRPr lang="zh-CN" altLang="en-US" dirty="0">
              <a:latin typeface="Times New Roman" panose="02020603050405020304" pitchFamily="18" charset="0"/>
              <a:cs typeface="Times New Roman" panose="02020603050405020304" pitchFamily="18" charset="0"/>
            </a:endParaRPr>
          </a:p>
        </p:txBody>
      </p:sp>
      <p:pic>
        <p:nvPicPr>
          <p:cNvPr id="5" name="图片 4"/>
          <p:cNvPicPr>
            <a:picLocks noChangeAspect="1"/>
          </p:cNvPicPr>
          <p:nvPr/>
        </p:nvPicPr>
        <p:blipFill>
          <a:blip r:embed="rId3"/>
          <a:stretch>
            <a:fillRect/>
          </a:stretch>
        </p:blipFill>
        <p:spPr>
          <a:xfrm>
            <a:off x="7213550" y="4179136"/>
            <a:ext cx="4218325" cy="2030239"/>
          </a:xfrm>
          <a:prstGeom prst="rect">
            <a:avLst/>
          </a:prstGeom>
        </p:spPr>
      </p:pic>
      <p:sp>
        <p:nvSpPr>
          <p:cNvPr id="6" name="文本框 5"/>
          <p:cNvSpPr txBox="1"/>
          <p:nvPr/>
        </p:nvSpPr>
        <p:spPr>
          <a:xfrm>
            <a:off x="8232145" y="6426349"/>
            <a:ext cx="2197915" cy="369332"/>
          </a:xfrm>
          <a:prstGeom prst="rect">
            <a:avLst/>
          </a:prstGeom>
          <a:noFill/>
        </p:spPr>
        <p:txBody>
          <a:bodyPr wrap="square" rtlCol="0">
            <a:spAutoFit/>
          </a:bodyPr>
          <a:lstStyle/>
          <a:p>
            <a:pPr algn="ctr"/>
            <a:r>
              <a:rPr lang="en-US" altLang="zh-CN" dirty="0" err="1"/>
              <a:t>InfoNCE</a:t>
            </a:r>
            <a:endParaRPr lang="zh-CN" altLang="en-US" dirty="0"/>
          </a:p>
        </p:txBody>
      </p:sp>
      <p:pic>
        <p:nvPicPr>
          <p:cNvPr id="8" name="图片 7"/>
          <p:cNvPicPr>
            <a:picLocks noChangeAspect="1"/>
          </p:cNvPicPr>
          <p:nvPr/>
        </p:nvPicPr>
        <p:blipFill>
          <a:blip r:embed="rId4"/>
          <a:stretch>
            <a:fillRect/>
          </a:stretch>
        </p:blipFill>
        <p:spPr>
          <a:xfrm>
            <a:off x="1816333" y="3824957"/>
            <a:ext cx="4022405" cy="3033043"/>
          </a:xfrm>
          <a:prstGeom prst="rect">
            <a:avLst/>
          </a:prstGeom>
        </p:spPr>
      </p:pic>
    </p:spTree>
    <p:extLst>
      <p:ext uri="{BB962C8B-B14F-4D97-AF65-F5344CB8AC3E}">
        <p14:creationId xmlns:p14="http://schemas.microsoft.com/office/powerpoint/2010/main" val="4114902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Related work</a:t>
            </a:r>
            <a:endParaRPr lang="zh-CN" altLang="en-US" dirty="0">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p:txBody>
          <a:bodyPr/>
          <a:lstStyle/>
          <a:p>
            <a:r>
              <a:rPr lang="en-US" altLang="zh-CN" dirty="0">
                <a:latin typeface="Times New Roman" panose="02020603050405020304" pitchFamily="18" charset="0"/>
                <a:cs typeface="Times New Roman" panose="02020603050405020304" pitchFamily="18" charset="0"/>
              </a:rPr>
              <a:t>MOCOv1 &amp; MOCOv2</a:t>
            </a:r>
          </a:p>
          <a:p>
            <a:r>
              <a:rPr lang="en-US" altLang="zh-CN" dirty="0" err="1">
                <a:latin typeface="Times New Roman" panose="02020603050405020304" pitchFamily="18" charset="0"/>
                <a:cs typeface="Times New Roman" panose="02020603050405020304" pitchFamily="18" charset="0"/>
              </a:rPr>
              <a:t>SimCLR</a:t>
            </a:r>
            <a:r>
              <a:rPr lang="en-US" altLang="zh-CN" dirty="0">
                <a:latin typeface="Times New Roman" panose="02020603050405020304" pitchFamily="18" charset="0"/>
                <a:cs typeface="Times New Roman" panose="02020603050405020304" pitchFamily="18" charset="0"/>
              </a:rPr>
              <a:t> &amp; SimCLRv2</a:t>
            </a:r>
          </a:p>
          <a:p>
            <a:r>
              <a:rPr lang="en-US" altLang="zh-CN" dirty="0">
                <a:latin typeface="Times New Roman" panose="02020603050405020304" pitchFamily="18" charset="0"/>
                <a:cs typeface="Times New Roman" panose="02020603050405020304" pitchFamily="18" charset="0"/>
              </a:rPr>
              <a:t>BYOL</a:t>
            </a:r>
            <a:endParaRPr lang="zh-CN" altLang="en-US" dirty="0">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3"/>
          <a:stretch>
            <a:fillRect/>
          </a:stretch>
        </p:blipFill>
        <p:spPr>
          <a:xfrm>
            <a:off x="5078048" y="56514"/>
            <a:ext cx="2841246" cy="2389477"/>
          </a:xfrm>
          <a:prstGeom prst="rect">
            <a:avLst/>
          </a:prstGeom>
        </p:spPr>
      </p:pic>
      <p:pic>
        <p:nvPicPr>
          <p:cNvPr id="5" name="图片 4"/>
          <p:cNvPicPr>
            <a:picLocks noChangeAspect="1"/>
          </p:cNvPicPr>
          <p:nvPr/>
        </p:nvPicPr>
        <p:blipFill>
          <a:blip r:embed="rId4"/>
          <a:stretch>
            <a:fillRect/>
          </a:stretch>
        </p:blipFill>
        <p:spPr>
          <a:xfrm>
            <a:off x="8564124" y="152921"/>
            <a:ext cx="3293015" cy="2286060"/>
          </a:xfrm>
          <a:prstGeom prst="rect">
            <a:avLst/>
          </a:prstGeom>
        </p:spPr>
      </p:pic>
      <p:pic>
        <p:nvPicPr>
          <p:cNvPr id="6" name="图片 5"/>
          <p:cNvPicPr>
            <a:picLocks noChangeAspect="1"/>
          </p:cNvPicPr>
          <p:nvPr/>
        </p:nvPicPr>
        <p:blipFill>
          <a:blip r:embed="rId5"/>
          <a:stretch>
            <a:fillRect/>
          </a:stretch>
        </p:blipFill>
        <p:spPr>
          <a:xfrm>
            <a:off x="5158577" y="2959645"/>
            <a:ext cx="6270335" cy="2117327"/>
          </a:xfrm>
          <a:prstGeom prst="rect">
            <a:avLst/>
          </a:prstGeom>
        </p:spPr>
      </p:pic>
      <p:sp>
        <p:nvSpPr>
          <p:cNvPr id="7" name="文本框 6"/>
          <p:cNvSpPr txBox="1"/>
          <p:nvPr/>
        </p:nvSpPr>
        <p:spPr>
          <a:xfrm>
            <a:off x="6473333" y="5106404"/>
            <a:ext cx="3640822" cy="369332"/>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BYOL</a:t>
            </a:r>
            <a:endParaRPr lang="zh-CN" altLang="en-US" dirty="0">
              <a:latin typeface="Times New Roman" panose="02020603050405020304" pitchFamily="18" charset="0"/>
              <a:cs typeface="Times New Roman" panose="02020603050405020304" pitchFamily="18" charset="0"/>
            </a:endParaRPr>
          </a:p>
        </p:txBody>
      </p:sp>
      <p:sp>
        <p:nvSpPr>
          <p:cNvPr id="8" name="文本框 7"/>
          <p:cNvSpPr txBox="1"/>
          <p:nvPr/>
        </p:nvSpPr>
        <p:spPr>
          <a:xfrm>
            <a:off x="8390220" y="2557459"/>
            <a:ext cx="3640822" cy="369332"/>
          </a:xfrm>
          <a:prstGeom prst="rect">
            <a:avLst/>
          </a:prstGeom>
          <a:noFill/>
        </p:spPr>
        <p:txBody>
          <a:bodyPr wrap="square" rtlCol="0">
            <a:spAutoFit/>
          </a:bodyPr>
          <a:lstStyle/>
          <a:p>
            <a:pPr algn="ctr"/>
            <a:r>
              <a:rPr lang="en-US" altLang="zh-CN" dirty="0" err="1">
                <a:latin typeface="Times New Roman" panose="02020603050405020304" pitchFamily="18" charset="0"/>
                <a:cs typeface="Times New Roman" panose="02020603050405020304" pitchFamily="18" charset="0"/>
              </a:rPr>
              <a:t>SimCLR</a:t>
            </a:r>
            <a:endParaRPr lang="zh-CN" altLang="en-US" dirty="0">
              <a:latin typeface="Times New Roman" panose="02020603050405020304" pitchFamily="18" charset="0"/>
              <a:cs typeface="Times New Roman" panose="02020603050405020304" pitchFamily="18" charset="0"/>
            </a:endParaRPr>
          </a:p>
        </p:txBody>
      </p:sp>
      <p:sp>
        <p:nvSpPr>
          <p:cNvPr id="9" name="文本框 8"/>
          <p:cNvSpPr txBox="1"/>
          <p:nvPr/>
        </p:nvSpPr>
        <p:spPr>
          <a:xfrm>
            <a:off x="4678260" y="2552781"/>
            <a:ext cx="3640822" cy="369332"/>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MOCO</a:t>
            </a:r>
            <a:endParaRPr lang="zh-CN" altLang="en-US" dirty="0">
              <a:latin typeface="Times New Roman" panose="02020603050405020304" pitchFamily="18" charset="0"/>
              <a:cs typeface="Times New Roman" panose="02020603050405020304" pitchFamily="18" charset="0"/>
            </a:endParaRPr>
          </a:p>
        </p:txBody>
      </p:sp>
      <p:sp>
        <p:nvSpPr>
          <p:cNvPr id="11" name="文本框 10"/>
          <p:cNvSpPr txBox="1"/>
          <p:nvPr/>
        </p:nvSpPr>
        <p:spPr>
          <a:xfrm>
            <a:off x="838200" y="5291070"/>
            <a:ext cx="12138870" cy="1754326"/>
          </a:xfrm>
          <a:prstGeom prst="rect">
            <a:avLst/>
          </a:prstGeom>
          <a:noFill/>
        </p:spPr>
        <p:txBody>
          <a:bodyPr wrap="square" rtlCol="0">
            <a:spAutoFit/>
          </a:bodyPr>
          <a:lstStyle/>
          <a:p>
            <a:r>
              <a:rPr lang="en-US" altLang="zh-CN" b="1" i="1" dirty="0"/>
              <a:t>More clear introductions: </a:t>
            </a:r>
          </a:p>
          <a:p>
            <a:r>
              <a:rPr lang="en-US" altLang="zh-CN" b="1" i="1" dirty="0">
                <a:hlinkClick r:id="rId6"/>
              </a:rPr>
              <a:t>https://untitled-ai.github.io/understanding-self-supervised-contrastive-learning.html</a:t>
            </a:r>
            <a:endParaRPr lang="en-US" altLang="zh-CN" b="1" i="1" dirty="0"/>
          </a:p>
          <a:p>
            <a:r>
              <a:rPr lang="en-US" altLang="zh-CN" b="1" i="1" dirty="0">
                <a:hlinkClick r:id="rId7"/>
              </a:rPr>
              <a:t>https://mp.weixin.qq.com/s/-Vtl_8nND7WCPLdL5bNlMw</a:t>
            </a:r>
            <a:endParaRPr lang="en-US" altLang="zh-CN" b="1" i="1" dirty="0"/>
          </a:p>
          <a:p>
            <a:r>
              <a:rPr lang="en-US" altLang="zh-CN" b="1" i="1" dirty="0">
                <a:hlinkClick r:id="rId8"/>
              </a:rPr>
              <a:t>https://mp.weixin.qq.com/s/6qqFAQBaOFuXtaeRSmQgsQ</a:t>
            </a:r>
            <a:endParaRPr lang="en-US" altLang="zh-CN" b="1" i="1" dirty="0"/>
          </a:p>
          <a:p>
            <a:r>
              <a:rPr lang="en-US" altLang="zh-CN" b="1" i="1" dirty="0">
                <a:hlinkClick r:id="rId9"/>
              </a:rPr>
              <a:t>https://www.zhihu.com/question/402452508/answer/1294166177</a:t>
            </a:r>
            <a:endParaRPr lang="en-US" altLang="zh-CN" b="1" i="1" dirty="0"/>
          </a:p>
          <a:p>
            <a:endParaRPr lang="zh-CN" altLang="en-US" b="1" i="1" dirty="0"/>
          </a:p>
        </p:txBody>
      </p:sp>
    </p:spTree>
    <p:extLst>
      <p:ext uri="{BB962C8B-B14F-4D97-AF65-F5344CB8AC3E}">
        <p14:creationId xmlns:p14="http://schemas.microsoft.com/office/powerpoint/2010/main" val="1961121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Related work</a:t>
            </a:r>
            <a:endParaRPr lang="zh-CN" altLang="en-US" dirty="0">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p:txBody>
          <a:bodyPr/>
          <a:lstStyle/>
          <a:p>
            <a:r>
              <a:rPr lang="en-US" altLang="zh-CN" dirty="0">
                <a:latin typeface="Times New Roman" panose="02020603050405020304" pitchFamily="18" charset="0"/>
                <a:cs typeface="Times New Roman" panose="02020603050405020304" pitchFamily="18" charset="0"/>
              </a:rPr>
              <a:t>MOCOv1</a:t>
            </a:r>
          </a:p>
          <a:p>
            <a:pPr lvl="1"/>
            <a:r>
              <a:rPr lang="en-US" altLang="zh-CN" dirty="0">
                <a:latin typeface="Times New Roman" panose="02020603050405020304" pitchFamily="18" charset="0"/>
                <a:cs typeface="Times New Roman" panose="02020603050405020304" pitchFamily="18" charset="0"/>
              </a:rPr>
              <a:t>A large dictionary.</a:t>
            </a:r>
          </a:p>
          <a:p>
            <a:pPr lvl="1"/>
            <a:r>
              <a:rPr lang="en-US" altLang="zh-CN" dirty="0">
                <a:latin typeface="Times New Roman" panose="02020603050405020304" pitchFamily="18" charset="0"/>
                <a:cs typeface="Times New Roman" panose="02020603050405020304" pitchFamily="18" charset="0"/>
              </a:rPr>
              <a:t>Momentum encoder.</a:t>
            </a:r>
          </a:p>
          <a:p>
            <a:pPr lvl="1"/>
            <a:r>
              <a:rPr lang="en-US" altLang="zh-CN" dirty="0">
                <a:latin typeface="Times New Roman" panose="02020603050405020304" pitchFamily="18" charset="0"/>
                <a:cs typeface="Times New Roman" panose="02020603050405020304" pitchFamily="18" charset="0"/>
              </a:rPr>
              <a:t>Surpass ImageNet pre-trained model on 7 tasks.</a:t>
            </a:r>
          </a:p>
          <a:p>
            <a:pPr lvl="1"/>
            <a:endParaRPr lang="en-US" altLang="zh-CN" dirty="0">
              <a:latin typeface="Times New Roman" panose="02020603050405020304" pitchFamily="18" charset="0"/>
              <a:cs typeface="Times New Roman" panose="02020603050405020304" pitchFamily="18" charset="0"/>
            </a:endParaRPr>
          </a:p>
          <a:p>
            <a:pPr lvl="1"/>
            <a:endParaRPr lang="zh-CN" altLang="en-US" dirty="0">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a:blip r:embed="rId3"/>
          <a:stretch>
            <a:fillRect/>
          </a:stretch>
        </p:blipFill>
        <p:spPr>
          <a:xfrm>
            <a:off x="292957" y="3544667"/>
            <a:ext cx="7646484" cy="2767233"/>
          </a:xfrm>
          <a:prstGeom prst="rect">
            <a:avLst/>
          </a:prstGeom>
        </p:spPr>
      </p:pic>
      <p:pic>
        <p:nvPicPr>
          <p:cNvPr id="14" name="图片 13"/>
          <p:cNvPicPr>
            <a:picLocks noChangeAspect="1"/>
          </p:cNvPicPr>
          <p:nvPr/>
        </p:nvPicPr>
        <p:blipFill>
          <a:blip r:embed="rId4"/>
          <a:stretch>
            <a:fillRect/>
          </a:stretch>
        </p:blipFill>
        <p:spPr>
          <a:xfrm>
            <a:off x="8213167" y="3956707"/>
            <a:ext cx="3978833" cy="1943151"/>
          </a:xfrm>
          <a:prstGeom prst="rect">
            <a:avLst/>
          </a:prstGeom>
        </p:spPr>
      </p:pic>
      <p:cxnSp>
        <p:nvCxnSpPr>
          <p:cNvPr id="16" name="直接箭头连接符 15"/>
          <p:cNvCxnSpPr/>
          <p:nvPr/>
        </p:nvCxnSpPr>
        <p:spPr>
          <a:xfrm flipV="1">
            <a:off x="1392572" y="6328678"/>
            <a:ext cx="8389" cy="4328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flipV="1">
            <a:off x="6839826" y="6328678"/>
            <a:ext cx="8389" cy="4328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flipV="1">
            <a:off x="4116199" y="6328678"/>
            <a:ext cx="8389" cy="4328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9" name="图片 18"/>
          <p:cNvPicPr>
            <a:picLocks noChangeAspect="1"/>
          </p:cNvPicPr>
          <p:nvPr/>
        </p:nvPicPr>
        <p:blipFill>
          <a:blip r:embed="rId5"/>
          <a:stretch>
            <a:fillRect/>
          </a:stretch>
        </p:blipFill>
        <p:spPr>
          <a:xfrm>
            <a:off x="6703913" y="365125"/>
            <a:ext cx="4927676" cy="2746254"/>
          </a:xfrm>
          <a:prstGeom prst="rect">
            <a:avLst/>
          </a:prstGeom>
        </p:spPr>
      </p:pic>
    </p:spTree>
    <p:extLst>
      <p:ext uri="{BB962C8B-B14F-4D97-AF65-F5344CB8AC3E}">
        <p14:creationId xmlns:p14="http://schemas.microsoft.com/office/powerpoint/2010/main" val="667006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down)">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down)">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Related work</a:t>
            </a:r>
            <a:endParaRPr lang="zh-CN" altLang="en-US" dirty="0"/>
          </a:p>
        </p:txBody>
      </p:sp>
      <p:sp>
        <p:nvSpPr>
          <p:cNvPr id="3" name="内容占位符 2"/>
          <p:cNvSpPr>
            <a:spLocks noGrp="1"/>
          </p:cNvSpPr>
          <p:nvPr>
            <p:ph idx="1"/>
          </p:nvPr>
        </p:nvSpPr>
        <p:spPr/>
        <p:txBody>
          <a:bodyPr/>
          <a:lstStyle/>
          <a:p>
            <a:r>
              <a:rPr lang="en-US" altLang="zh-CN" dirty="0" err="1">
                <a:latin typeface="Times New Roman" panose="02020603050405020304" pitchFamily="18" charset="0"/>
                <a:cs typeface="Times New Roman" panose="02020603050405020304" pitchFamily="18" charset="0"/>
              </a:rPr>
              <a:t>SimCLR</a:t>
            </a:r>
            <a:endParaRPr lang="en-US" altLang="zh-CN" dirty="0">
              <a:latin typeface="Times New Roman" panose="02020603050405020304" pitchFamily="18" charset="0"/>
              <a:cs typeface="Times New Roman" panose="02020603050405020304" pitchFamily="18" charset="0"/>
            </a:endParaRPr>
          </a:p>
          <a:p>
            <a:pPr lvl="1"/>
            <a:r>
              <a:rPr lang="en-US" altLang="zh-CN" dirty="0">
                <a:latin typeface="Times New Roman" panose="02020603050405020304" pitchFamily="18" charset="0"/>
                <a:cs typeface="Times New Roman" panose="02020603050405020304" pitchFamily="18" charset="0"/>
              </a:rPr>
              <a:t>Large batch size.</a:t>
            </a:r>
          </a:p>
          <a:p>
            <a:pPr lvl="1"/>
            <a:r>
              <a:rPr lang="en-US" altLang="zh-CN" b="1" dirty="0">
                <a:latin typeface="Times New Roman" panose="02020603050405020304" pitchFamily="18" charset="0"/>
                <a:cs typeface="Times New Roman" panose="02020603050405020304" pitchFamily="18" charset="0"/>
              </a:rPr>
              <a:t>Carefully designed data augmentation sequences.</a:t>
            </a:r>
          </a:p>
          <a:p>
            <a:pPr lvl="1"/>
            <a:r>
              <a:rPr lang="en-US" altLang="zh-CN" b="1" dirty="0">
                <a:latin typeface="Times New Roman" panose="02020603050405020304" pitchFamily="18" charset="0"/>
                <a:cs typeface="Times New Roman" panose="02020603050405020304" pitchFamily="18" charset="0"/>
              </a:rPr>
              <a:t>Projection head helps.</a:t>
            </a:r>
          </a:p>
          <a:p>
            <a:pPr lvl="1"/>
            <a:r>
              <a:rPr lang="en-US" altLang="zh-CN" dirty="0">
                <a:latin typeface="Times New Roman" panose="02020603050405020304" pitchFamily="18" charset="0"/>
                <a:cs typeface="Times New Roman" panose="02020603050405020304" pitchFamily="18" charset="0"/>
              </a:rPr>
              <a:t>Contrastive learning needs more time(iterations).</a:t>
            </a:r>
          </a:p>
          <a:p>
            <a:pPr lvl="1"/>
            <a:r>
              <a:rPr lang="en-US" altLang="zh-CN" dirty="0">
                <a:latin typeface="Times New Roman" panose="02020603050405020304" pitchFamily="18" charset="0"/>
                <a:cs typeface="Times New Roman" panose="02020603050405020304" pitchFamily="18" charset="0"/>
              </a:rPr>
              <a:t>Surpass MOCO for 8.5%. </a:t>
            </a:r>
          </a:p>
          <a:p>
            <a:pPr lvl="1"/>
            <a:endParaRPr lang="en-US" altLang="zh-CN" dirty="0">
              <a:latin typeface="Times New Roman" panose="02020603050405020304" pitchFamily="18" charset="0"/>
              <a:cs typeface="Times New Roman" panose="02020603050405020304" pitchFamily="18" charset="0"/>
            </a:endParaRPr>
          </a:p>
          <a:p>
            <a:pPr lvl="1"/>
            <a:endParaRPr lang="zh-CN" altLang="en-US" dirty="0">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3"/>
          <a:stretch>
            <a:fillRect/>
          </a:stretch>
        </p:blipFill>
        <p:spPr>
          <a:xfrm>
            <a:off x="838200" y="4236404"/>
            <a:ext cx="3412761" cy="2525552"/>
          </a:xfrm>
          <a:prstGeom prst="rect">
            <a:avLst/>
          </a:prstGeom>
        </p:spPr>
      </p:pic>
      <p:sp>
        <p:nvSpPr>
          <p:cNvPr id="5" name="文本框 4"/>
          <p:cNvSpPr txBox="1"/>
          <p:nvPr/>
        </p:nvSpPr>
        <p:spPr>
          <a:xfrm>
            <a:off x="688786" y="6577290"/>
            <a:ext cx="3640822" cy="369332"/>
          </a:xfrm>
          <a:prstGeom prst="rect">
            <a:avLst/>
          </a:prstGeom>
          <a:noFill/>
        </p:spPr>
        <p:txBody>
          <a:bodyPr wrap="square" rtlCol="0">
            <a:spAutoFit/>
          </a:bodyPr>
          <a:lstStyle/>
          <a:p>
            <a:pPr algn="ctr"/>
            <a:r>
              <a:rPr lang="en-US" altLang="zh-CN" dirty="0" err="1">
                <a:latin typeface="Times New Roman" panose="02020603050405020304" pitchFamily="18" charset="0"/>
                <a:cs typeface="Times New Roman" panose="02020603050405020304" pitchFamily="18" charset="0"/>
              </a:rPr>
              <a:t>SimCLR</a:t>
            </a:r>
            <a:endParaRPr lang="zh-CN" altLang="en-US" dirty="0">
              <a:latin typeface="Times New Roman" panose="02020603050405020304" pitchFamily="18" charset="0"/>
              <a:cs typeface="Times New Roman" panose="02020603050405020304" pitchFamily="18" charset="0"/>
            </a:endParaRPr>
          </a:p>
        </p:txBody>
      </p:sp>
      <p:pic>
        <p:nvPicPr>
          <p:cNvPr id="7" name="图片 6"/>
          <p:cNvPicPr>
            <a:picLocks noChangeAspect="1"/>
          </p:cNvPicPr>
          <p:nvPr/>
        </p:nvPicPr>
        <p:blipFill>
          <a:blip r:embed="rId4"/>
          <a:stretch>
            <a:fillRect/>
          </a:stretch>
        </p:blipFill>
        <p:spPr>
          <a:xfrm>
            <a:off x="4703725" y="5101220"/>
            <a:ext cx="2384034" cy="1192017"/>
          </a:xfrm>
          <a:prstGeom prst="rect">
            <a:avLst/>
          </a:prstGeom>
        </p:spPr>
      </p:pic>
      <p:sp>
        <p:nvSpPr>
          <p:cNvPr id="8" name="文本框 7"/>
          <p:cNvSpPr txBox="1"/>
          <p:nvPr/>
        </p:nvSpPr>
        <p:spPr>
          <a:xfrm>
            <a:off x="4180193" y="6243508"/>
            <a:ext cx="3431097" cy="369332"/>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Projection head</a:t>
            </a:r>
            <a:endParaRPr lang="zh-CN" altLang="en-US" dirty="0">
              <a:latin typeface="Times New Roman" panose="02020603050405020304" pitchFamily="18" charset="0"/>
              <a:cs typeface="Times New Roman" panose="02020603050405020304" pitchFamily="18" charset="0"/>
            </a:endParaRPr>
          </a:p>
        </p:txBody>
      </p:sp>
      <p:pic>
        <p:nvPicPr>
          <p:cNvPr id="9" name="图片 8"/>
          <p:cNvPicPr>
            <a:picLocks noChangeAspect="1"/>
          </p:cNvPicPr>
          <p:nvPr/>
        </p:nvPicPr>
        <p:blipFill>
          <a:blip r:embed="rId5"/>
          <a:stretch>
            <a:fillRect/>
          </a:stretch>
        </p:blipFill>
        <p:spPr>
          <a:xfrm>
            <a:off x="7610655" y="3500978"/>
            <a:ext cx="4267312" cy="3200484"/>
          </a:xfrm>
          <a:prstGeom prst="rect">
            <a:avLst/>
          </a:prstGeom>
        </p:spPr>
      </p:pic>
    </p:spTree>
    <p:extLst>
      <p:ext uri="{BB962C8B-B14F-4D97-AF65-F5344CB8AC3E}">
        <p14:creationId xmlns:p14="http://schemas.microsoft.com/office/powerpoint/2010/main" val="1224369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Related work</a:t>
            </a:r>
            <a:endParaRPr lang="zh-CN" altLang="en-US" dirty="0"/>
          </a:p>
        </p:txBody>
      </p:sp>
      <p:sp>
        <p:nvSpPr>
          <p:cNvPr id="3" name="内容占位符 2"/>
          <p:cNvSpPr>
            <a:spLocks noGrp="1"/>
          </p:cNvSpPr>
          <p:nvPr>
            <p:ph idx="1"/>
          </p:nvPr>
        </p:nvSpPr>
        <p:spPr/>
        <p:txBody>
          <a:bodyPr/>
          <a:lstStyle/>
          <a:p>
            <a:r>
              <a:rPr lang="en-US" altLang="zh-CN" dirty="0">
                <a:latin typeface="Times New Roman" panose="02020603050405020304" pitchFamily="18" charset="0"/>
                <a:cs typeface="Times New Roman" panose="02020603050405020304" pitchFamily="18" charset="0"/>
              </a:rPr>
              <a:t>MOCOv2 </a:t>
            </a:r>
          </a:p>
          <a:p>
            <a:pPr lvl="1"/>
            <a:r>
              <a:rPr lang="en-US" altLang="zh-CN" dirty="0">
                <a:latin typeface="Times New Roman" panose="02020603050405020304" pitchFamily="18" charset="0"/>
                <a:cs typeface="Times New Roman" panose="02020603050405020304" pitchFamily="18" charset="0"/>
              </a:rPr>
              <a:t>Apply projection head and carefully designed data augmentation methods on MOCO.</a:t>
            </a:r>
          </a:p>
          <a:p>
            <a:pPr lvl="1"/>
            <a:r>
              <a:rPr lang="en-US" altLang="zh-CN" dirty="0">
                <a:latin typeface="Times New Roman" panose="02020603050405020304" pitchFamily="18" charset="0"/>
                <a:cs typeface="Times New Roman" panose="02020603050405020304" pitchFamily="18" charset="0"/>
              </a:rPr>
              <a:t>Surpass </a:t>
            </a:r>
            <a:r>
              <a:rPr lang="en-US" altLang="zh-CN" dirty="0" err="1">
                <a:latin typeface="Times New Roman" panose="02020603050405020304" pitchFamily="18" charset="0"/>
                <a:cs typeface="Times New Roman" panose="02020603050405020304" pitchFamily="18" charset="0"/>
              </a:rPr>
              <a:t>SimCLR</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SimCLRv2</a:t>
            </a:r>
          </a:p>
          <a:p>
            <a:pPr lvl="1"/>
            <a:r>
              <a:rPr lang="en-US" altLang="zh-CN" dirty="0">
                <a:latin typeface="Times New Roman" panose="02020603050405020304" pitchFamily="18" charset="0"/>
                <a:cs typeface="Times New Roman" panose="02020603050405020304" pitchFamily="18" charset="0"/>
              </a:rPr>
              <a:t>Larger models performs better.</a:t>
            </a:r>
          </a:p>
          <a:p>
            <a:pPr lvl="1"/>
            <a:r>
              <a:rPr lang="en-US" altLang="zh-CN" dirty="0">
                <a:latin typeface="Times New Roman" panose="02020603050405020304" pitchFamily="18" charset="0"/>
                <a:cs typeface="Times New Roman" panose="02020603050405020304" pitchFamily="18" charset="0"/>
              </a:rPr>
              <a:t>Contrastive learning performs well on semi-supervised learning.</a:t>
            </a:r>
          </a:p>
        </p:txBody>
      </p:sp>
    </p:spTree>
    <p:extLst>
      <p:ext uri="{BB962C8B-B14F-4D97-AF65-F5344CB8AC3E}">
        <p14:creationId xmlns:p14="http://schemas.microsoft.com/office/powerpoint/2010/main" val="1056906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Related work</a:t>
            </a:r>
            <a:endParaRPr lang="zh-CN" altLang="en-US" dirty="0"/>
          </a:p>
        </p:txBody>
      </p:sp>
      <p:sp>
        <p:nvSpPr>
          <p:cNvPr id="3" name="内容占位符 2"/>
          <p:cNvSpPr>
            <a:spLocks noGrp="1"/>
          </p:cNvSpPr>
          <p:nvPr>
            <p:ph idx="1"/>
          </p:nvPr>
        </p:nvSpPr>
        <p:spPr/>
        <p:txBody>
          <a:bodyPr/>
          <a:lstStyle/>
          <a:p>
            <a:r>
              <a:rPr lang="en-US" altLang="zh-CN" dirty="0">
                <a:latin typeface="Times New Roman" panose="02020603050405020304" pitchFamily="18" charset="0"/>
                <a:cs typeface="Times New Roman" panose="02020603050405020304" pitchFamily="18" charset="0"/>
              </a:rPr>
              <a:t>BYOL</a:t>
            </a:r>
          </a:p>
          <a:p>
            <a:pPr lvl="1"/>
            <a:r>
              <a:rPr lang="en-US" altLang="zh-CN" b="1" dirty="0">
                <a:latin typeface="Times New Roman" panose="02020603050405020304" pitchFamily="18" charset="0"/>
                <a:cs typeface="Times New Roman" panose="02020603050405020304" pitchFamily="18" charset="0"/>
              </a:rPr>
              <a:t>No need for negative samples.</a:t>
            </a:r>
          </a:p>
          <a:p>
            <a:pPr lvl="1"/>
            <a:r>
              <a:rPr lang="en-US" altLang="zh-CN" dirty="0">
                <a:latin typeface="Times New Roman" panose="02020603050405020304" pitchFamily="18" charset="0"/>
                <a:cs typeface="Times New Roman" panose="02020603050405020304" pitchFamily="18" charset="0"/>
              </a:rPr>
              <a:t>An asymmetrical architecture with a prediction head.</a:t>
            </a:r>
          </a:p>
          <a:p>
            <a:pPr lvl="1"/>
            <a:r>
              <a:rPr lang="en-US" altLang="zh-CN" dirty="0">
                <a:latin typeface="Times New Roman" panose="02020603050405020304" pitchFamily="18" charset="0"/>
                <a:cs typeface="Times New Roman" panose="02020603050405020304" pitchFamily="18" charset="0"/>
              </a:rPr>
              <a:t>Stop gradient.</a:t>
            </a:r>
          </a:p>
          <a:p>
            <a:pPr lvl="1"/>
            <a:r>
              <a:rPr lang="en-US" altLang="zh-CN" dirty="0">
                <a:latin typeface="Times New Roman" panose="02020603050405020304" pitchFamily="18" charset="0"/>
                <a:cs typeface="Times New Roman" panose="02020603050405020304" pitchFamily="18" charset="0"/>
              </a:rPr>
              <a:t>Momentum encoder.</a:t>
            </a:r>
          </a:p>
        </p:txBody>
      </p:sp>
      <p:pic>
        <p:nvPicPr>
          <p:cNvPr id="4" name="图片 3"/>
          <p:cNvPicPr>
            <a:picLocks noChangeAspect="1"/>
          </p:cNvPicPr>
          <p:nvPr/>
        </p:nvPicPr>
        <p:blipFill>
          <a:blip r:embed="rId3"/>
          <a:stretch>
            <a:fillRect/>
          </a:stretch>
        </p:blipFill>
        <p:spPr>
          <a:xfrm>
            <a:off x="838200" y="3887075"/>
            <a:ext cx="5561442" cy="1877952"/>
          </a:xfrm>
          <a:prstGeom prst="rect">
            <a:avLst/>
          </a:prstGeom>
        </p:spPr>
      </p:pic>
      <p:sp>
        <p:nvSpPr>
          <p:cNvPr id="5" name="文本框 4"/>
          <p:cNvSpPr txBox="1"/>
          <p:nvPr/>
        </p:nvSpPr>
        <p:spPr>
          <a:xfrm>
            <a:off x="1798510" y="5639303"/>
            <a:ext cx="3640822" cy="369332"/>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BYOL</a:t>
            </a:r>
            <a:endParaRPr lang="zh-CN" altLang="en-US" dirty="0">
              <a:latin typeface="Times New Roman" panose="02020603050405020304" pitchFamily="18" charset="0"/>
              <a:cs typeface="Times New Roman" panose="02020603050405020304" pitchFamily="18" charset="0"/>
            </a:endParaRPr>
          </a:p>
        </p:txBody>
      </p:sp>
      <p:pic>
        <p:nvPicPr>
          <p:cNvPr id="6" name="图片 5"/>
          <p:cNvPicPr>
            <a:picLocks noChangeAspect="1"/>
          </p:cNvPicPr>
          <p:nvPr/>
        </p:nvPicPr>
        <p:blipFill>
          <a:blip r:embed="rId4"/>
          <a:stretch>
            <a:fillRect/>
          </a:stretch>
        </p:blipFill>
        <p:spPr>
          <a:xfrm>
            <a:off x="8035595" y="4088189"/>
            <a:ext cx="2384034" cy="1192017"/>
          </a:xfrm>
          <a:prstGeom prst="rect">
            <a:avLst/>
          </a:prstGeom>
        </p:spPr>
      </p:pic>
      <p:sp>
        <p:nvSpPr>
          <p:cNvPr id="7" name="文本框 6"/>
          <p:cNvSpPr txBox="1"/>
          <p:nvPr/>
        </p:nvSpPr>
        <p:spPr>
          <a:xfrm>
            <a:off x="7512063" y="5415143"/>
            <a:ext cx="3431097" cy="369332"/>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Projection or prediction head</a:t>
            </a:r>
            <a:endParaRPr lang="zh-CN" altLang="en-US" dirty="0">
              <a:latin typeface="Times New Roman" panose="02020603050405020304" pitchFamily="18" charset="0"/>
              <a:cs typeface="Times New Roman" panose="02020603050405020304" pitchFamily="18" charset="0"/>
            </a:endParaRPr>
          </a:p>
        </p:txBody>
      </p:sp>
      <p:sp>
        <p:nvSpPr>
          <p:cNvPr id="8" name="矩形 7"/>
          <p:cNvSpPr/>
          <p:nvPr/>
        </p:nvSpPr>
        <p:spPr>
          <a:xfrm>
            <a:off x="838200" y="5899964"/>
            <a:ext cx="10462260" cy="1200329"/>
          </a:xfrm>
          <a:prstGeom prst="rect">
            <a:avLst/>
          </a:prstGeom>
        </p:spPr>
        <p:txBody>
          <a:bodyPr wrap="square">
            <a:spAutoFit/>
          </a:bodyPr>
          <a:lstStyle/>
          <a:p>
            <a:r>
              <a:rPr lang="en-US" altLang="zh-CN" i="1" dirty="0"/>
              <a:t>What matters?</a:t>
            </a:r>
          </a:p>
          <a:p>
            <a:r>
              <a:rPr lang="en-US" altLang="zh-CN" i="1" dirty="0">
                <a:hlinkClick r:id="rId5"/>
              </a:rPr>
              <a:t>https://untitled-ai.github.io/understanding-self-supervised-contrastive-learning.html</a:t>
            </a:r>
            <a:endParaRPr lang="en-US" altLang="zh-CN" i="1" dirty="0"/>
          </a:p>
          <a:p>
            <a:r>
              <a:rPr lang="en-US" altLang="zh-CN" i="1" dirty="0">
                <a:hlinkClick r:id="rId6"/>
              </a:rPr>
              <a:t>https://arxiv.org/abs/2010.10241</a:t>
            </a:r>
            <a:endParaRPr lang="en-US" altLang="zh-CN" i="1" dirty="0"/>
          </a:p>
          <a:p>
            <a:endParaRPr lang="en-US" altLang="zh-CN" i="1" dirty="0"/>
          </a:p>
        </p:txBody>
      </p:sp>
    </p:spTree>
    <p:extLst>
      <p:ext uri="{BB962C8B-B14F-4D97-AF65-F5344CB8AC3E}">
        <p14:creationId xmlns:p14="http://schemas.microsoft.com/office/powerpoint/2010/main" val="40296713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Motivation</a:t>
            </a:r>
            <a:endParaRPr lang="zh-CN" altLang="en-US" dirty="0">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p:txBody>
          <a:bodyPr/>
          <a:lstStyle/>
          <a:p>
            <a:r>
              <a:rPr lang="en-US" altLang="zh-CN" dirty="0">
                <a:latin typeface="Times New Roman" panose="02020603050405020304" pitchFamily="18" charset="0"/>
                <a:cs typeface="Times New Roman" panose="02020603050405020304" pitchFamily="18" charset="0"/>
              </a:rPr>
              <a:t>Is there a simpler way?</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6294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This paper: </a:t>
            </a:r>
            <a:r>
              <a:rPr lang="en-US" altLang="zh-CN" dirty="0" err="1">
                <a:latin typeface="Times New Roman" panose="02020603050405020304" pitchFamily="18" charset="0"/>
                <a:cs typeface="Times New Roman" panose="02020603050405020304" pitchFamily="18" charset="0"/>
              </a:rPr>
              <a:t>SimSiam</a:t>
            </a:r>
            <a:endParaRPr lang="zh-CN" altLang="en-US" dirty="0">
              <a:latin typeface="Times New Roman" panose="02020603050405020304" pitchFamily="18" charset="0"/>
              <a:cs typeface="Times New Roman" panose="02020603050405020304" pitchFamily="18" charset="0"/>
            </a:endParaRPr>
          </a:p>
        </p:txBody>
      </p:sp>
      <p:sp>
        <p:nvSpPr>
          <p:cNvPr id="5" name="文本框 4"/>
          <p:cNvSpPr txBox="1"/>
          <p:nvPr/>
        </p:nvSpPr>
        <p:spPr>
          <a:xfrm>
            <a:off x="659355" y="5601719"/>
            <a:ext cx="2181138" cy="369332"/>
          </a:xfrm>
          <a:prstGeom prst="rect">
            <a:avLst/>
          </a:prstGeom>
          <a:noFill/>
        </p:spPr>
        <p:txBody>
          <a:bodyPr wrap="square" rtlCol="0">
            <a:spAutoFit/>
          </a:bodyPr>
          <a:lstStyle/>
          <a:p>
            <a:pPr algn="ctr"/>
            <a:r>
              <a:rPr lang="en-US" altLang="zh-CN" dirty="0" err="1">
                <a:latin typeface="Times New Roman" panose="02020603050405020304" pitchFamily="18" charset="0"/>
                <a:cs typeface="Times New Roman" panose="02020603050405020304" pitchFamily="18" charset="0"/>
              </a:rPr>
              <a:t>SimSiam</a:t>
            </a:r>
            <a:endParaRPr lang="zh-CN" altLang="en-US" dirty="0">
              <a:latin typeface="Times New Roman" panose="02020603050405020304" pitchFamily="18" charset="0"/>
              <a:cs typeface="Times New Roman" panose="02020603050405020304" pitchFamily="18" charset="0"/>
            </a:endParaRPr>
          </a:p>
        </p:txBody>
      </p:sp>
      <p:pic>
        <p:nvPicPr>
          <p:cNvPr id="6" name="图片 5"/>
          <p:cNvPicPr>
            <a:picLocks noChangeAspect="1"/>
          </p:cNvPicPr>
          <p:nvPr/>
        </p:nvPicPr>
        <p:blipFill>
          <a:blip r:embed="rId3"/>
          <a:stretch>
            <a:fillRect/>
          </a:stretch>
        </p:blipFill>
        <p:spPr>
          <a:xfrm>
            <a:off x="7904248" y="2665103"/>
            <a:ext cx="4061774" cy="2936616"/>
          </a:xfrm>
          <a:prstGeom prst="rect">
            <a:avLst/>
          </a:prstGeom>
        </p:spPr>
      </p:pic>
      <p:sp>
        <p:nvSpPr>
          <p:cNvPr id="7" name="文本框 6"/>
          <p:cNvSpPr txBox="1"/>
          <p:nvPr/>
        </p:nvSpPr>
        <p:spPr>
          <a:xfrm>
            <a:off x="8660008" y="5601719"/>
            <a:ext cx="2550253" cy="369332"/>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Pseudocode</a:t>
            </a:r>
            <a:endParaRPr lang="zh-CN" altLang="en-US" dirty="0">
              <a:latin typeface="Times New Roman" panose="02020603050405020304" pitchFamily="18" charset="0"/>
              <a:cs typeface="Times New Roman" panose="02020603050405020304" pitchFamily="18" charset="0"/>
            </a:endParaRPr>
          </a:p>
        </p:txBody>
      </p:sp>
      <p:pic>
        <p:nvPicPr>
          <p:cNvPr id="9" name="内容占位符 3"/>
          <p:cNvPicPr>
            <a:picLocks noChangeAspect="1"/>
          </p:cNvPicPr>
          <p:nvPr/>
        </p:nvPicPr>
        <p:blipFill>
          <a:blip r:embed="rId4"/>
          <a:stretch>
            <a:fillRect/>
          </a:stretch>
        </p:blipFill>
        <p:spPr>
          <a:xfrm>
            <a:off x="0" y="2911457"/>
            <a:ext cx="3499849" cy="2443907"/>
          </a:xfrm>
          <a:prstGeom prst="rect">
            <a:avLst/>
          </a:prstGeom>
        </p:spPr>
      </p:pic>
      <p:pic>
        <p:nvPicPr>
          <p:cNvPr id="10" name="图片 9"/>
          <p:cNvPicPr>
            <a:picLocks noChangeAspect="1"/>
          </p:cNvPicPr>
          <p:nvPr/>
        </p:nvPicPr>
        <p:blipFill>
          <a:blip r:embed="rId5"/>
          <a:stretch>
            <a:fillRect/>
          </a:stretch>
        </p:blipFill>
        <p:spPr>
          <a:xfrm>
            <a:off x="3646145" y="2892858"/>
            <a:ext cx="3614017" cy="713880"/>
          </a:xfrm>
          <a:prstGeom prst="rect">
            <a:avLst/>
          </a:prstGeom>
        </p:spPr>
      </p:pic>
      <p:pic>
        <p:nvPicPr>
          <p:cNvPr id="11" name="图片 10"/>
          <p:cNvPicPr>
            <a:picLocks noChangeAspect="1"/>
          </p:cNvPicPr>
          <p:nvPr/>
        </p:nvPicPr>
        <p:blipFill>
          <a:blip r:embed="rId6"/>
          <a:stretch>
            <a:fillRect/>
          </a:stretch>
        </p:blipFill>
        <p:spPr>
          <a:xfrm>
            <a:off x="3646145" y="3853093"/>
            <a:ext cx="3689139" cy="747912"/>
          </a:xfrm>
          <a:prstGeom prst="rect">
            <a:avLst/>
          </a:prstGeom>
        </p:spPr>
      </p:pic>
      <p:pic>
        <p:nvPicPr>
          <p:cNvPr id="12" name="图片 11"/>
          <p:cNvPicPr>
            <a:picLocks noChangeAspect="1"/>
          </p:cNvPicPr>
          <p:nvPr/>
        </p:nvPicPr>
        <p:blipFill>
          <a:blip r:embed="rId7"/>
          <a:stretch>
            <a:fillRect/>
          </a:stretch>
        </p:blipFill>
        <p:spPr>
          <a:xfrm>
            <a:off x="3396727" y="4827508"/>
            <a:ext cx="4610644" cy="527856"/>
          </a:xfrm>
          <a:prstGeom prst="rect">
            <a:avLst/>
          </a:prstGeom>
        </p:spPr>
      </p:pic>
      <p:sp>
        <p:nvSpPr>
          <p:cNvPr id="13" name="矩形 12"/>
          <p:cNvSpPr/>
          <p:nvPr/>
        </p:nvSpPr>
        <p:spPr>
          <a:xfrm>
            <a:off x="4120264" y="5601719"/>
            <a:ext cx="2504212" cy="369332"/>
          </a:xfrm>
          <a:prstGeom prst="rect">
            <a:avLst/>
          </a:prstGeom>
        </p:spPr>
        <p:txBody>
          <a:bodyPr wrap="none">
            <a:spAutoFit/>
          </a:bodyPr>
          <a:lstStyle/>
          <a:p>
            <a:pPr algn="ctr"/>
            <a:r>
              <a:rPr lang="en-US" altLang="zh-CN" dirty="0">
                <a:latin typeface="Times New Roman" panose="02020603050405020304" pitchFamily="18" charset="0"/>
                <a:cs typeface="Times New Roman" panose="02020603050405020304" pitchFamily="18" charset="0"/>
              </a:rPr>
              <a:t>loss; forward; backward</a:t>
            </a:r>
          </a:p>
        </p:txBody>
      </p:sp>
    </p:spTree>
    <p:extLst>
      <p:ext uri="{BB962C8B-B14F-4D97-AF65-F5344CB8AC3E}">
        <p14:creationId xmlns:p14="http://schemas.microsoft.com/office/powerpoint/2010/main" val="11139559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What matters? </a:t>
            </a:r>
            <a:endParaRPr lang="zh-CN" altLang="en-US" dirty="0">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p:txBody>
          <a:bodyPr/>
          <a:lstStyle/>
          <a:p>
            <a:r>
              <a:rPr lang="en-US" altLang="zh-CN" dirty="0">
                <a:latin typeface="Times New Roman" panose="02020603050405020304" pitchFamily="18" charset="0"/>
                <a:cs typeface="Times New Roman" panose="02020603050405020304" pitchFamily="18" charset="0"/>
              </a:rPr>
              <a:t>Stop Gradient</a:t>
            </a:r>
            <a:endParaRPr lang="zh-CN" altLang="en-US" dirty="0">
              <a:latin typeface="Times New Roman" panose="02020603050405020304" pitchFamily="18" charset="0"/>
              <a:cs typeface="Times New Roman" panose="02020603050405020304" pitchFamily="18" charset="0"/>
            </a:endParaRPr>
          </a:p>
        </p:txBody>
      </p:sp>
      <p:pic>
        <p:nvPicPr>
          <p:cNvPr id="5" name="图片 4"/>
          <p:cNvPicPr>
            <a:picLocks noChangeAspect="1"/>
          </p:cNvPicPr>
          <p:nvPr/>
        </p:nvPicPr>
        <p:blipFill>
          <a:blip r:embed="rId3"/>
          <a:stretch>
            <a:fillRect/>
          </a:stretch>
        </p:blipFill>
        <p:spPr>
          <a:xfrm>
            <a:off x="838200" y="3054279"/>
            <a:ext cx="11087390" cy="2846689"/>
          </a:xfrm>
          <a:prstGeom prst="rect">
            <a:avLst/>
          </a:prstGeom>
        </p:spPr>
      </p:pic>
      <p:pic>
        <p:nvPicPr>
          <p:cNvPr id="6" name="内容占位符 3"/>
          <p:cNvPicPr>
            <a:picLocks noChangeAspect="1"/>
          </p:cNvPicPr>
          <p:nvPr/>
        </p:nvPicPr>
        <p:blipFill>
          <a:blip r:embed="rId4"/>
          <a:stretch>
            <a:fillRect/>
          </a:stretch>
        </p:blipFill>
        <p:spPr>
          <a:xfrm>
            <a:off x="7760395" y="334377"/>
            <a:ext cx="3499849" cy="2443907"/>
          </a:xfrm>
          <a:prstGeom prst="rect">
            <a:avLst/>
          </a:prstGeom>
        </p:spPr>
      </p:pic>
      <p:sp>
        <p:nvSpPr>
          <p:cNvPr id="4" name="文本框 3"/>
          <p:cNvSpPr txBox="1"/>
          <p:nvPr/>
        </p:nvSpPr>
        <p:spPr>
          <a:xfrm>
            <a:off x="349541" y="6176963"/>
            <a:ext cx="11492917" cy="923330"/>
          </a:xfrm>
          <a:prstGeom prst="rect">
            <a:avLst/>
          </a:prstGeom>
          <a:noFill/>
        </p:spPr>
        <p:txBody>
          <a:bodyPr wrap="square" rtlCol="0">
            <a:spAutoFit/>
          </a:bodyPr>
          <a:lstStyle/>
          <a:p>
            <a:r>
              <a:rPr lang="en-US" altLang="zh-CN" i="1" dirty="0"/>
              <a:t>An easy and specific explanation from the view of EM (Expectation-Maximization):</a:t>
            </a:r>
          </a:p>
          <a:p>
            <a:r>
              <a:rPr lang="en-US" altLang="zh-CN" i="1" dirty="0">
                <a:hlinkClick r:id="rId5"/>
              </a:rPr>
              <a:t>https://mp.weixin.qq.com/s/-Vtl_8nND7WCPLdL5bNlMw</a:t>
            </a:r>
            <a:endParaRPr lang="en-US" altLang="zh-CN" i="1" dirty="0"/>
          </a:p>
          <a:p>
            <a:endParaRPr lang="zh-CN" altLang="en-US" i="1" dirty="0"/>
          </a:p>
        </p:txBody>
      </p:sp>
    </p:spTree>
    <p:extLst>
      <p:ext uri="{BB962C8B-B14F-4D97-AF65-F5344CB8AC3E}">
        <p14:creationId xmlns:p14="http://schemas.microsoft.com/office/powerpoint/2010/main" val="39734440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What matters? </a:t>
            </a:r>
            <a:endParaRPr lang="zh-CN" altLang="en-US" dirty="0">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p:txBody>
          <a:bodyPr/>
          <a:lstStyle/>
          <a:p>
            <a:r>
              <a:rPr lang="en-US" altLang="zh-CN" dirty="0">
                <a:latin typeface="Times New Roman" panose="02020603050405020304" pitchFamily="18" charset="0"/>
                <a:cs typeface="Times New Roman" panose="02020603050405020304" pitchFamily="18" charset="0"/>
              </a:rPr>
              <a:t>Prediction head</a:t>
            </a:r>
            <a:endParaRPr lang="zh-CN" altLang="en-US" dirty="0">
              <a:latin typeface="Times New Roman" panose="02020603050405020304" pitchFamily="18" charset="0"/>
              <a:cs typeface="Times New Roman" panose="02020603050405020304" pitchFamily="18" charset="0"/>
            </a:endParaRPr>
          </a:p>
        </p:txBody>
      </p:sp>
      <p:pic>
        <p:nvPicPr>
          <p:cNvPr id="6" name="内容占位符 3"/>
          <p:cNvPicPr>
            <a:picLocks noChangeAspect="1"/>
          </p:cNvPicPr>
          <p:nvPr/>
        </p:nvPicPr>
        <p:blipFill>
          <a:blip r:embed="rId3"/>
          <a:stretch>
            <a:fillRect/>
          </a:stretch>
        </p:blipFill>
        <p:spPr>
          <a:xfrm>
            <a:off x="7760395" y="334377"/>
            <a:ext cx="3499849" cy="2443907"/>
          </a:xfrm>
          <a:prstGeom prst="rect">
            <a:avLst/>
          </a:prstGeom>
        </p:spPr>
      </p:pic>
      <p:pic>
        <p:nvPicPr>
          <p:cNvPr id="7" name="内容占位符 3"/>
          <p:cNvPicPr>
            <a:picLocks noChangeAspect="1"/>
          </p:cNvPicPr>
          <p:nvPr/>
        </p:nvPicPr>
        <p:blipFill>
          <a:blip r:embed="rId4"/>
          <a:stretch>
            <a:fillRect/>
          </a:stretch>
        </p:blipFill>
        <p:spPr>
          <a:xfrm>
            <a:off x="3464309" y="3284596"/>
            <a:ext cx="5263381" cy="2019353"/>
          </a:xfrm>
          <a:prstGeom prst="rect">
            <a:avLst/>
          </a:prstGeom>
        </p:spPr>
      </p:pic>
      <p:sp>
        <p:nvSpPr>
          <p:cNvPr id="4" name="文本框 3"/>
          <p:cNvSpPr txBox="1"/>
          <p:nvPr/>
        </p:nvSpPr>
        <p:spPr>
          <a:xfrm>
            <a:off x="339634" y="6096000"/>
            <a:ext cx="11504023" cy="923330"/>
          </a:xfrm>
          <a:prstGeom prst="rect">
            <a:avLst/>
          </a:prstGeom>
          <a:noFill/>
        </p:spPr>
        <p:txBody>
          <a:bodyPr wrap="square" rtlCol="0">
            <a:spAutoFit/>
          </a:bodyPr>
          <a:lstStyle/>
          <a:p>
            <a:r>
              <a:rPr lang="en-US" altLang="zh-CN" i="1" dirty="0"/>
              <a:t>An explanation from the view of implicit contrastive learning by BN:</a:t>
            </a:r>
          </a:p>
          <a:p>
            <a:r>
              <a:rPr lang="en-US" altLang="zh-CN" i="1" dirty="0">
                <a:hlinkClick r:id="rId5"/>
              </a:rPr>
              <a:t>https://untitled-ai.github.io/understanding-self-supervised-contrastive-learning.html</a:t>
            </a:r>
            <a:endParaRPr lang="en-US" altLang="zh-CN" i="1" dirty="0"/>
          </a:p>
          <a:p>
            <a:endParaRPr lang="zh-CN" altLang="en-US" i="1" dirty="0"/>
          </a:p>
        </p:txBody>
      </p:sp>
    </p:spTree>
    <p:extLst>
      <p:ext uri="{BB962C8B-B14F-4D97-AF65-F5344CB8AC3E}">
        <p14:creationId xmlns:p14="http://schemas.microsoft.com/office/powerpoint/2010/main" val="4136123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Experiments</a:t>
            </a:r>
            <a:endParaRPr lang="zh-CN" altLang="en-US" dirty="0">
              <a:latin typeface="Times New Roman" panose="02020603050405020304" pitchFamily="18" charset="0"/>
              <a:cs typeface="Times New Roman" panose="02020603050405020304" pitchFamily="18" charset="0"/>
            </a:endParaRPr>
          </a:p>
        </p:txBody>
      </p:sp>
      <p:pic>
        <p:nvPicPr>
          <p:cNvPr id="5" name="图片 4"/>
          <p:cNvPicPr>
            <a:picLocks noChangeAspect="1"/>
          </p:cNvPicPr>
          <p:nvPr/>
        </p:nvPicPr>
        <p:blipFill>
          <a:blip r:embed="rId2"/>
          <a:stretch>
            <a:fillRect/>
          </a:stretch>
        </p:blipFill>
        <p:spPr>
          <a:xfrm>
            <a:off x="745474" y="3252871"/>
            <a:ext cx="10701052" cy="3488101"/>
          </a:xfrm>
          <a:prstGeom prst="rect">
            <a:avLst/>
          </a:prstGeom>
        </p:spPr>
      </p:pic>
      <p:sp>
        <p:nvSpPr>
          <p:cNvPr id="3" name="内容占位符 2"/>
          <p:cNvSpPr>
            <a:spLocks noGrp="1"/>
          </p:cNvSpPr>
          <p:nvPr>
            <p:ph idx="1"/>
          </p:nvPr>
        </p:nvSpPr>
        <p:spPr/>
        <p:txBody>
          <a:bodyPr/>
          <a:lstStyle/>
          <a:p>
            <a:endParaRPr lang="zh-CN" altLang="en-US" dirty="0"/>
          </a:p>
        </p:txBody>
      </p:sp>
      <p:pic>
        <p:nvPicPr>
          <p:cNvPr id="6" name="内容占位符 3"/>
          <p:cNvPicPr>
            <a:picLocks noChangeAspect="1"/>
          </p:cNvPicPr>
          <p:nvPr/>
        </p:nvPicPr>
        <p:blipFill>
          <a:blip r:embed="rId3"/>
          <a:stretch>
            <a:fillRect/>
          </a:stretch>
        </p:blipFill>
        <p:spPr>
          <a:xfrm>
            <a:off x="1198926" y="1304794"/>
            <a:ext cx="9572537" cy="1872576"/>
          </a:xfrm>
          <a:prstGeom prst="rect">
            <a:avLst/>
          </a:prstGeom>
        </p:spPr>
      </p:pic>
    </p:spTree>
    <p:extLst>
      <p:ext uri="{BB962C8B-B14F-4D97-AF65-F5344CB8AC3E}">
        <p14:creationId xmlns:p14="http://schemas.microsoft.com/office/powerpoint/2010/main" val="4799685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Experiments</a:t>
            </a:r>
            <a:endParaRPr lang="zh-CN" altLang="en-US" dirty="0">
              <a:latin typeface="Times New Roman" panose="02020603050405020304" pitchFamily="18" charset="0"/>
              <a:cs typeface="Times New Roman" panose="02020603050405020304" pitchFamily="18" charset="0"/>
            </a:endParaRPr>
          </a:p>
        </p:txBody>
      </p:sp>
      <p:pic>
        <p:nvPicPr>
          <p:cNvPr id="5" name="图片 4"/>
          <p:cNvPicPr>
            <a:picLocks noChangeAspect="1"/>
          </p:cNvPicPr>
          <p:nvPr/>
        </p:nvPicPr>
        <p:blipFill>
          <a:blip r:embed="rId3"/>
          <a:stretch>
            <a:fillRect/>
          </a:stretch>
        </p:blipFill>
        <p:spPr>
          <a:xfrm>
            <a:off x="1196810" y="2007692"/>
            <a:ext cx="5339583" cy="1083157"/>
          </a:xfrm>
          <a:prstGeom prst="rect">
            <a:avLst/>
          </a:prstGeom>
        </p:spPr>
      </p:pic>
      <p:pic>
        <p:nvPicPr>
          <p:cNvPr id="6" name="图片 5"/>
          <p:cNvPicPr>
            <a:picLocks noChangeAspect="1"/>
          </p:cNvPicPr>
          <p:nvPr/>
        </p:nvPicPr>
        <p:blipFill>
          <a:blip r:embed="rId4"/>
          <a:stretch>
            <a:fillRect/>
          </a:stretch>
        </p:blipFill>
        <p:spPr>
          <a:xfrm>
            <a:off x="1267570" y="3447382"/>
            <a:ext cx="5198065" cy="2041125"/>
          </a:xfrm>
          <a:prstGeom prst="rect">
            <a:avLst/>
          </a:prstGeom>
        </p:spPr>
      </p:pic>
      <p:sp>
        <p:nvSpPr>
          <p:cNvPr id="7" name="文本框 6"/>
          <p:cNvSpPr txBox="1"/>
          <p:nvPr/>
        </p:nvSpPr>
        <p:spPr>
          <a:xfrm>
            <a:off x="8253229" y="3447382"/>
            <a:ext cx="2181138" cy="369332"/>
          </a:xfrm>
          <a:prstGeom prst="rect">
            <a:avLst/>
          </a:prstGeom>
          <a:noFill/>
        </p:spPr>
        <p:txBody>
          <a:bodyPr wrap="square" rtlCol="0">
            <a:spAutoFit/>
          </a:bodyPr>
          <a:lstStyle/>
          <a:p>
            <a:pPr algn="ctr"/>
            <a:r>
              <a:rPr lang="en-US" altLang="zh-CN" dirty="0" err="1">
                <a:latin typeface="Times New Roman" panose="02020603050405020304" pitchFamily="18" charset="0"/>
                <a:cs typeface="Times New Roman" panose="02020603050405020304" pitchFamily="18" charset="0"/>
              </a:rPr>
              <a:t>SimSiam</a:t>
            </a:r>
            <a:endParaRPr lang="zh-CN" altLang="en-US" dirty="0">
              <a:latin typeface="Times New Roman" panose="02020603050405020304" pitchFamily="18" charset="0"/>
              <a:cs typeface="Times New Roman" panose="02020603050405020304" pitchFamily="18" charset="0"/>
            </a:endParaRPr>
          </a:p>
        </p:txBody>
      </p:sp>
      <p:pic>
        <p:nvPicPr>
          <p:cNvPr id="8" name="内容占位符 3"/>
          <p:cNvPicPr>
            <a:picLocks noChangeAspect="1"/>
          </p:cNvPicPr>
          <p:nvPr/>
        </p:nvPicPr>
        <p:blipFill>
          <a:blip r:embed="rId5"/>
          <a:stretch>
            <a:fillRect/>
          </a:stretch>
        </p:blipFill>
        <p:spPr>
          <a:xfrm>
            <a:off x="7593874" y="757120"/>
            <a:ext cx="3499849" cy="2443907"/>
          </a:xfrm>
          <a:prstGeom prst="rect">
            <a:avLst/>
          </a:prstGeom>
        </p:spPr>
      </p:pic>
      <p:pic>
        <p:nvPicPr>
          <p:cNvPr id="9" name="图片 8"/>
          <p:cNvPicPr>
            <a:picLocks noChangeAspect="1"/>
          </p:cNvPicPr>
          <p:nvPr/>
        </p:nvPicPr>
        <p:blipFill>
          <a:blip r:embed="rId6"/>
          <a:stretch>
            <a:fillRect/>
          </a:stretch>
        </p:blipFill>
        <p:spPr>
          <a:xfrm>
            <a:off x="8186158" y="3976887"/>
            <a:ext cx="2384034" cy="1192017"/>
          </a:xfrm>
          <a:prstGeom prst="rect">
            <a:avLst/>
          </a:prstGeom>
        </p:spPr>
      </p:pic>
      <p:sp>
        <p:nvSpPr>
          <p:cNvPr id="10" name="文本框 9"/>
          <p:cNvSpPr txBox="1"/>
          <p:nvPr/>
        </p:nvSpPr>
        <p:spPr>
          <a:xfrm>
            <a:off x="7662626" y="5119175"/>
            <a:ext cx="3431097" cy="369332"/>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Projection or prediction head</a:t>
            </a:r>
            <a:endParaRPr lang="zh-CN" altLang="en-US" dirty="0">
              <a:latin typeface="Times New Roman" panose="02020603050405020304" pitchFamily="18" charset="0"/>
              <a:cs typeface="Times New Roman" panose="02020603050405020304" pitchFamily="18" charset="0"/>
            </a:endParaRPr>
          </a:p>
        </p:txBody>
      </p:sp>
      <p:sp>
        <p:nvSpPr>
          <p:cNvPr id="11" name="文本框 10"/>
          <p:cNvSpPr txBox="1"/>
          <p:nvPr/>
        </p:nvSpPr>
        <p:spPr>
          <a:xfrm>
            <a:off x="339634" y="5734862"/>
            <a:ext cx="11504023" cy="923330"/>
          </a:xfrm>
          <a:prstGeom prst="rect">
            <a:avLst/>
          </a:prstGeom>
          <a:noFill/>
        </p:spPr>
        <p:txBody>
          <a:bodyPr wrap="square" rtlCol="0">
            <a:spAutoFit/>
          </a:bodyPr>
          <a:lstStyle/>
          <a:p>
            <a:r>
              <a:rPr lang="en-US" altLang="zh-CN" i="1" dirty="0"/>
              <a:t>Reference about Table 3:</a:t>
            </a:r>
          </a:p>
          <a:p>
            <a:r>
              <a:rPr lang="en-US" altLang="zh-CN" i="1" dirty="0">
                <a:hlinkClick r:id="rId7"/>
              </a:rPr>
              <a:t>https://untitled-ai.github.io/understanding-self-supervised-contrastive-learning.html</a:t>
            </a:r>
            <a:endParaRPr lang="en-US" altLang="zh-CN" i="1" dirty="0"/>
          </a:p>
          <a:p>
            <a:r>
              <a:rPr lang="en-US" altLang="zh-CN" i="1" dirty="0">
                <a:hlinkClick r:id="rId8"/>
              </a:rPr>
              <a:t>https://mp.weixin.qq.com/s/-Vtl_8nND7WCPLdL5bNlMw</a:t>
            </a:r>
            <a:endParaRPr lang="en-US" altLang="zh-CN" i="1" dirty="0"/>
          </a:p>
        </p:txBody>
      </p:sp>
    </p:spTree>
    <p:extLst>
      <p:ext uri="{BB962C8B-B14F-4D97-AF65-F5344CB8AC3E}">
        <p14:creationId xmlns:p14="http://schemas.microsoft.com/office/powerpoint/2010/main" val="14437545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Experiments</a:t>
            </a:r>
            <a:endParaRPr lang="zh-CN" altLang="en-US" dirty="0"/>
          </a:p>
        </p:txBody>
      </p:sp>
      <p:sp>
        <p:nvSpPr>
          <p:cNvPr id="3" name="内容占位符 2"/>
          <p:cNvSpPr>
            <a:spLocks noGrp="1"/>
          </p:cNvSpPr>
          <p:nvPr>
            <p:ph idx="1"/>
          </p:nvPr>
        </p:nvSpPr>
        <p:spPr/>
        <p:txBody>
          <a:bodyPr/>
          <a:lstStyle/>
          <a:p>
            <a:r>
              <a:rPr lang="en-US" altLang="zh-CN" dirty="0">
                <a:latin typeface="Times New Roman" panose="02020603050405020304" pitchFamily="18" charset="0"/>
                <a:cs typeface="Times New Roman" panose="02020603050405020304" pitchFamily="18" charset="0"/>
              </a:rPr>
              <a:t>Effects of similarity metric</a:t>
            </a:r>
            <a:endParaRPr lang="zh-CN" altLang="en-US" dirty="0">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2"/>
          <a:stretch>
            <a:fillRect/>
          </a:stretch>
        </p:blipFill>
        <p:spPr>
          <a:xfrm>
            <a:off x="2702418" y="5299077"/>
            <a:ext cx="6343076" cy="981003"/>
          </a:xfrm>
          <a:prstGeom prst="rect">
            <a:avLst/>
          </a:prstGeom>
        </p:spPr>
      </p:pic>
      <p:pic>
        <p:nvPicPr>
          <p:cNvPr id="5" name="图片 4"/>
          <p:cNvPicPr>
            <a:picLocks noChangeAspect="1"/>
          </p:cNvPicPr>
          <p:nvPr/>
        </p:nvPicPr>
        <p:blipFill>
          <a:blip r:embed="rId3"/>
          <a:stretch>
            <a:fillRect/>
          </a:stretch>
        </p:blipFill>
        <p:spPr>
          <a:xfrm>
            <a:off x="2119782" y="4125647"/>
            <a:ext cx="7508347" cy="517817"/>
          </a:xfrm>
          <a:prstGeom prst="rect">
            <a:avLst/>
          </a:prstGeom>
        </p:spPr>
      </p:pic>
      <p:pic>
        <p:nvPicPr>
          <p:cNvPr id="6" name="图片 5"/>
          <p:cNvPicPr>
            <a:picLocks noChangeAspect="1"/>
          </p:cNvPicPr>
          <p:nvPr/>
        </p:nvPicPr>
        <p:blipFill>
          <a:blip r:embed="rId4"/>
          <a:stretch>
            <a:fillRect/>
          </a:stretch>
        </p:blipFill>
        <p:spPr>
          <a:xfrm>
            <a:off x="3940041" y="2592148"/>
            <a:ext cx="3867828" cy="1037237"/>
          </a:xfrm>
          <a:prstGeom prst="rect">
            <a:avLst/>
          </a:prstGeom>
        </p:spPr>
      </p:pic>
      <p:sp>
        <p:nvSpPr>
          <p:cNvPr id="7" name="文本框 6"/>
          <p:cNvSpPr txBox="1"/>
          <p:nvPr/>
        </p:nvSpPr>
        <p:spPr>
          <a:xfrm>
            <a:off x="4320332" y="3529390"/>
            <a:ext cx="3103927" cy="369332"/>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Cosine similarity</a:t>
            </a:r>
          </a:p>
        </p:txBody>
      </p:sp>
      <p:sp>
        <p:nvSpPr>
          <p:cNvPr id="9" name="矩形 8"/>
          <p:cNvSpPr/>
          <p:nvPr/>
        </p:nvSpPr>
        <p:spPr>
          <a:xfrm>
            <a:off x="4627404" y="4645181"/>
            <a:ext cx="2489784" cy="369332"/>
          </a:xfrm>
          <a:prstGeom prst="rect">
            <a:avLst/>
          </a:prstGeom>
        </p:spPr>
        <p:txBody>
          <a:bodyPr wrap="none">
            <a:spAutoFit/>
          </a:bodyPr>
          <a:lstStyle/>
          <a:p>
            <a:pPr algn="ctr"/>
            <a:r>
              <a:rPr lang="en-US" altLang="zh-CN" dirty="0">
                <a:latin typeface="Times New Roman" panose="02020603050405020304" pitchFamily="18" charset="0"/>
                <a:cs typeface="Times New Roman" panose="02020603050405020304" pitchFamily="18" charset="0"/>
              </a:rPr>
              <a:t>Cross Entropy similarity</a:t>
            </a:r>
          </a:p>
        </p:txBody>
      </p:sp>
    </p:spTree>
    <p:extLst>
      <p:ext uri="{BB962C8B-B14F-4D97-AF65-F5344CB8AC3E}">
        <p14:creationId xmlns:p14="http://schemas.microsoft.com/office/powerpoint/2010/main" val="23607213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Comparison on </a:t>
            </a:r>
            <a:r>
              <a:rPr lang="en-US" altLang="zh-CN" dirty="0" err="1">
                <a:latin typeface="Times New Roman" panose="02020603050405020304" pitchFamily="18" charset="0"/>
                <a:cs typeface="Times New Roman" panose="02020603050405020304" pitchFamily="18" charset="0"/>
              </a:rPr>
              <a:t>siamese</a:t>
            </a:r>
            <a:r>
              <a:rPr lang="en-US" altLang="zh-CN" dirty="0">
                <a:latin typeface="Times New Roman" panose="02020603050405020304" pitchFamily="18" charset="0"/>
                <a:cs typeface="Times New Roman" panose="02020603050405020304" pitchFamily="18" charset="0"/>
              </a:rPr>
              <a:t> architectures</a:t>
            </a:r>
            <a:endParaRPr lang="zh-CN" altLang="en-US" dirty="0">
              <a:latin typeface="Times New Roman" panose="02020603050405020304" pitchFamily="18" charset="0"/>
              <a:cs typeface="Times New Roman" panose="02020603050405020304" pitchFamily="18" charset="0"/>
            </a:endParaRPr>
          </a:p>
        </p:txBody>
      </p:sp>
      <p:pic>
        <p:nvPicPr>
          <p:cNvPr id="4" name="内容占位符 3"/>
          <p:cNvPicPr>
            <a:picLocks noGrp="1" noChangeAspect="1"/>
          </p:cNvPicPr>
          <p:nvPr>
            <p:ph idx="1"/>
          </p:nvPr>
        </p:nvPicPr>
        <p:blipFill>
          <a:blip r:embed="rId3"/>
          <a:stretch>
            <a:fillRect/>
          </a:stretch>
        </p:blipFill>
        <p:spPr>
          <a:xfrm>
            <a:off x="3225815" y="1804173"/>
            <a:ext cx="5740370" cy="4504348"/>
          </a:xfrm>
          <a:prstGeom prst="rect">
            <a:avLst/>
          </a:prstGeom>
        </p:spPr>
      </p:pic>
    </p:spTree>
    <p:extLst>
      <p:ext uri="{BB962C8B-B14F-4D97-AF65-F5344CB8AC3E}">
        <p14:creationId xmlns:p14="http://schemas.microsoft.com/office/powerpoint/2010/main" val="18914605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Analysis &amp; Why this paper</a:t>
            </a:r>
            <a:endParaRPr lang="zh-CN" altLang="en-US" dirty="0">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p:txBody>
          <a:bodyPr/>
          <a:lstStyle/>
          <a:p>
            <a:r>
              <a:rPr lang="en-US" altLang="zh-CN" dirty="0">
                <a:latin typeface="Times New Roman" panose="02020603050405020304" pitchFamily="18" charset="0"/>
                <a:cs typeface="Times New Roman" panose="02020603050405020304" pitchFamily="18" charset="0"/>
              </a:rPr>
              <a:t>Simple but efficient. </a:t>
            </a:r>
          </a:p>
          <a:p>
            <a:r>
              <a:rPr lang="en-US" altLang="zh-CN" dirty="0">
                <a:latin typeface="Times New Roman" panose="02020603050405020304" pitchFamily="18" charset="0"/>
                <a:cs typeface="Times New Roman" panose="02020603050405020304" pitchFamily="18" charset="0"/>
              </a:rPr>
              <a:t>An introduction about contrastive learning.</a:t>
            </a:r>
          </a:p>
          <a:p>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21995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Reference</a:t>
            </a:r>
            <a:endParaRPr lang="zh-CN" altLang="en-US" dirty="0">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838200" y="1495840"/>
            <a:ext cx="10515600" cy="5309693"/>
          </a:xfrm>
        </p:spPr>
        <p:txBody>
          <a:bodyPr>
            <a:noAutofit/>
          </a:bodyPr>
          <a:lstStyle/>
          <a:p>
            <a:r>
              <a:rPr lang="en-US" altLang="zh-CN" sz="1600" dirty="0">
                <a:latin typeface="Times New Roman" panose="02020603050405020304" pitchFamily="18" charset="0"/>
                <a:cs typeface="Times New Roman" panose="02020603050405020304" pitchFamily="18" charset="0"/>
              </a:rPr>
              <a:t>He, K., Fan, H., Wu, Y., </a:t>
            </a:r>
            <a:r>
              <a:rPr lang="en-US" altLang="zh-CN" sz="1600" dirty="0" err="1">
                <a:latin typeface="Times New Roman" panose="02020603050405020304" pitchFamily="18" charset="0"/>
                <a:cs typeface="Times New Roman" panose="02020603050405020304" pitchFamily="18" charset="0"/>
              </a:rPr>
              <a:t>Xie</a:t>
            </a:r>
            <a:r>
              <a:rPr lang="en-US" altLang="zh-CN" sz="1600" dirty="0">
                <a:latin typeface="Times New Roman" panose="02020603050405020304" pitchFamily="18" charset="0"/>
                <a:cs typeface="Times New Roman" panose="02020603050405020304" pitchFamily="18" charset="0"/>
              </a:rPr>
              <a:t>, S., &amp; </a:t>
            </a:r>
            <a:r>
              <a:rPr lang="en-US" altLang="zh-CN" sz="1600" dirty="0" err="1">
                <a:latin typeface="Times New Roman" panose="02020603050405020304" pitchFamily="18" charset="0"/>
                <a:cs typeface="Times New Roman" panose="02020603050405020304" pitchFamily="18" charset="0"/>
              </a:rPr>
              <a:t>Girshick</a:t>
            </a:r>
            <a:r>
              <a:rPr lang="en-US" altLang="zh-CN" sz="1600" dirty="0">
                <a:latin typeface="Times New Roman" panose="02020603050405020304" pitchFamily="18" charset="0"/>
                <a:cs typeface="Times New Roman" panose="02020603050405020304" pitchFamily="18" charset="0"/>
              </a:rPr>
              <a:t>, R. (2020). Momentum Contrast for Unsupervised Visual Representation Learning. </a:t>
            </a:r>
            <a:r>
              <a:rPr lang="en-US" altLang="zh-CN" sz="1600" i="1" dirty="0">
                <a:latin typeface="Times New Roman" panose="02020603050405020304" pitchFamily="18" charset="0"/>
                <a:cs typeface="Times New Roman" panose="02020603050405020304" pitchFamily="18" charset="0"/>
              </a:rPr>
              <a:t>Proceedings of the IEEE Computer Society Conference on Computer Vision and Pattern Recognition</a:t>
            </a:r>
            <a:r>
              <a:rPr lang="en-US" altLang="zh-CN" sz="1600" dirty="0">
                <a:latin typeface="Times New Roman" panose="02020603050405020304" pitchFamily="18" charset="0"/>
                <a:cs typeface="Times New Roman" panose="02020603050405020304" pitchFamily="18" charset="0"/>
              </a:rPr>
              <a:t>, 9726–9735. https://doi.org/10.1109/CVPR42600.2020.00975</a:t>
            </a:r>
          </a:p>
          <a:p>
            <a:r>
              <a:rPr lang="en-US" altLang="zh-CN" sz="1600" dirty="0">
                <a:latin typeface="Times New Roman" panose="02020603050405020304" pitchFamily="18" charset="0"/>
                <a:cs typeface="Times New Roman" panose="02020603050405020304" pitchFamily="18" charset="0"/>
              </a:rPr>
              <a:t>Grill, J. B., </a:t>
            </a:r>
            <a:r>
              <a:rPr lang="en-US" altLang="zh-CN" sz="1600" dirty="0" err="1">
                <a:latin typeface="Times New Roman" panose="02020603050405020304" pitchFamily="18" charset="0"/>
                <a:cs typeface="Times New Roman" panose="02020603050405020304" pitchFamily="18" charset="0"/>
              </a:rPr>
              <a:t>Strub</a:t>
            </a:r>
            <a:r>
              <a:rPr lang="en-US" altLang="zh-CN" sz="1600" dirty="0">
                <a:latin typeface="Times New Roman" panose="02020603050405020304" pitchFamily="18" charset="0"/>
                <a:cs typeface="Times New Roman" panose="02020603050405020304" pitchFamily="18" charset="0"/>
              </a:rPr>
              <a:t>, F., </a:t>
            </a:r>
            <a:r>
              <a:rPr lang="en-US" altLang="zh-CN" sz="1600" dirty="0" err="1">
                <a:latin typeface="Times New Roman" panose="02020603050405020304" pitchFamily="18" charset="0"/>
                <a:cs typeface="Times New Roman" panose="02020603050405020304" pitchFamily="18" charset="0"/>
              </a:rPr>
              <a:t>Altché</a:t>
            </a:r>
            <a:r>
              <a:rPr lang="en-US" altLang="zh-CN" sz="1600" dirty="0">
                <a:latin typeface="Times New Roman" panose="02020603050405020304" pitchFamily="18" charset="0"/>
                <a:cs typeface="Times New Roman" panose="02020603050405020304" pitchFamily="18" charset="0"/>
              </a:rPr>
              <a:t>, F., </a:t>
            </a:r>
            <a:r>
              <a:rPr lang="en-US" altLang="zh-CN" sz="1600" dirty="0" err="1">
                <a:latin typeface="Times New Roman" panose="02020603050405020304" pitchFamily="18" charset="0"/>
                <a:cs typeface="Times New Roman" panose="02020603050405020304" pitchFamily="18" charset="0"/>
              </a:rPr>
              <a:t>Tallec</a:t>
            </a:r>
            <a:r>
              <a:rPr lang="en-US" altLang="zh-CN" sz="1600" dirty="0">
                <a:latin typeface="Times New Roman" panose="02020603050405020304" pitchFamily="18" charset="0"/>
                <a:cs typeface="Times New Roman" panose="02020603050405020304" pitchFamily="18" charset="0"/>
              </a:rPr>
              <a:t>, C., </a:t>
            </a:r>
            <a:r>
              <a:rPr lang="en-US" altLang="zh-CN" sz="1600" dirty="0" err="1">
                <a:latin typeface="Times New Roman" panose="02020603050405020304" pitchFamily="18" charset="0"/>
                <a:cs typeface="Times New Roman" panose="02020603050405020304" pitchFamily="18" charset="0"/>
              </a:rPr>
              <a:t>Richemond</a:t>
            </a:r>
            <a:r>
              <a:rPr lang="en-US" altLang="zh-CN" sz="1600" dirty="0">
                <a:latin typeface="Times New Roman" panose="02020603050405020304" pitchFamily="18" charset="0"/>
                <a:cs typeface="Times New Roman" panose="02020603050405020304" pitchFamily="18" charset="0"/>
              </a:rPr>
              <a:t>, P. H., </a:t>
            </a:r>
            <a:r>
              <a:rPr lang="en-US" altLang="zh-CN" sz="1600" dirty="0" err="1">
                <a:latin typeface="Times New Roman" panose="02020603050405020304" pitchFamily="18" charset="0"/>
                <a:cs typeface="Times New Roman" panose="02020603050405020304" pitchFamily="18" charset="0"/>
              </a:rPr>
              <a:t>Buchatskaya</a:t>
            </a:r>
            <a:r>
              <a:rPr lang="en-US" altLang="zh-CN" sz="1600" dirty="0">
                <a:latin typeface="Times New Roman" panose="02020603050405020304" pitchFamily="18" charset="0"/>
                <a:cs typeface="Times New Roman" panose="02020603050405020304" pitchFamily="18" charset="0"/>
              </a:rPr>
              <a:t>, E., </a:t>
            </a:r>
            <a:r>
              <a:rPr lang="en-US" altLang="zh-CN" sz="1600" dirty="0" err="1">
                <a:latin typeface="Times New Roman" panose="02020603050405020304" pitchFamily="18" charset="0"/>
                <a:cs typeface="Times New Roman" panose="02020603050405020304" pitchFamily="18" charset="0"/>
              </a:rPr>
              <a:t>Doersch</a:t>
            </a:r>
            <a:r>
              <a:rPr lang="en-US" altLang="zh-CN" sz="1600" dirty="0">
                <a:latin typeface="Times New Roman" panose="02020603050405020304" pitchFamily="18" charset="0"/>
                <a:cs typeface="Times New Roman" panose="02020603050405020304" pitchFamily="18" charset="0"/>
              </a:rPr>
              <a:t>, C., </a:t>
            </a:r>
            <a:r>
              <a:rPr lang="en-US" altLang="zh-CN" sz="1600" dirty="0" err="1">
                <a:latin typeface="Times New Roman" panose="02020603050405020304" pitchFamily="18" charset="0"/>
                <a:cs typeface="Times New Roman" panose="02020603050405020304" pitchFamily="18" charset="0"/>
              </a:rPr>
              <a:t>Pires</a:t>
            </a:r>
            <a:r>
              <a:rPr lang="en-US" altLang="zh-CN" sz="1600" dirty="0">
                <a:latin typeface="Times New Roman" panose="02020603050405020304" pitchFamily="18" charset="0"/>
                <a:cs typeface="Times New Roman" panose="02020603050405020304" pitchFamily="18" charset="0"/>
              </a:rPr>
              <a:t>, B. A., </a:t>
            </a:r>
            <a:r>
              <a:rPr lang="en-US" altLang="zh-CN" sz="1600" dirty="0" err="1">
                <a:latin typeface="Times New Roman" panose="02020603050405020304" pitchFamily="18" charset="0"/>
                <a:cs typeface="Times New Roman" panose="02020603050405020304" pitchFamily="18" charset="0"/>
              </a:rPr>
              <a:t>Guo</a:t>
            </a:r>
            <a:r>
              <a:rPr lang="en-US" altLang="zh-CN" sz="1600" dirty="0">
                <a:latin typeface="Times New Roman" panose="02020603050405020304" pitchFamily="18" charset="0"/>
                <a:cs typeface="Times New Roman" panose="02020603050405020304" pitchFamily="18" charset="0"/>
              </a:rPr>
              <a:t>, Z. D., Azar, M. G., Piot, B., </a:t>
            </a:r>
            <a:r>
              <a:rPr lang="en-US" altLang="zh-CN" sz="1600" dirty="0" err="1">
                <a:latin typeface="Times New Roman" panose="02020603050405020304" pitchFamily="18" charset="0"/>
                <a:cs typeface="Times New Roman" panose="02020603050405020304" pitchFamily="18" charset="0"/>
              </a:rPr>
              <a:t>Kavukcuoglu</a:t>
            </a:r>
            <a:r>
              <a:rPr lang="en-US" altLang="zh-CN" sz="1600" dirty="0">
                <a:latin typeface="Times New Roman" panose="02020603050405020304" pitchFamily="18" charset="0"/>
                <a:cs typeface="Times New Roman" panose="02020603050405020304" pitchFamily="18" charset="0"/>
              </a:rPr>
              <a:t>, K., </a:t>
            </a:r>
            <a:r>
              <a:rPr lang="en-US" altLang="zh-CN" sz="1600" dirty="0" err="1">
                <a:latin typeface="Times New Roman" panose="02020603050405020304" pitchFamily="18" charset="0"/>
                <a:cs typeface="Times New Roman" panose="02020603050405020304" pitchFamily="18" charset="0"/>
              </a:rPr>
              <a:t>Munos</a:t>
            </a:r>
            <a:r>
              <a:rPr lang="en-US" altLang="zh-CN" sz="1600" dirty="0">
                <a:latin typeface="Times New Roman" panose="02020603050405020304" pitchFamily="18" charset="0"/>
                <a:cs typeface="Times New Roman" panose="02020603050405020304" pitchFamily="18" charset="0"/>
              </a:rPr>
              <a:t>, R., &amp; </a:t>
            </a:r>
            <a:r>
              <a:rPr lang="en-US" altLang="zh-CN" sz="1600" dirty="0" err="1">
                <a:latin typeface="Times New Roman" panose="02020603050405020304" pitchFamily="18" charset="0"/>
                <a:cs typeface="Times New Roman" panose="02020603050405020304" pitchFamily="18" charset="0"/>
              </a:rPr>
              <a:t>Valko</a:t>
            </a:r>
            <a:r>
              <a:rPr lang="en-US" altLang="zh-CN" sz="1600" dirty="0">
                <a:latin typeface="Times New Roman" panose="02020603050405020304" pitchFamily="18" charset="0"/>
                <a:cs typeface="Times New Roman" panose="02020603050405020304" pitchFamily="18" charset="0"/>
              </a:rPr>
              <a:t>, M. (2020). Bootstrap Your Own Latent A New Approach to Self-Supervised Learning. </a:t>
            </a:r>
            <a:r>
              <a:rPr lang="en-US" altLang="zh-CN" sz="1600" i="1" dirty="0" err="1">
                <a:latin typeface="Times New Roman" panose="02020603050405020304" pitchFamily="18" charset="0"/>
                <a:cs typeface="Times New Roman" panose="02020603050405020304" pitchFamily="18" charset="0"/>
              </a:rPr>
              <a:t>ArXiv</a:t>
            </a:r>
            <a:r>
              <a:rPr lang="en-US" altLang="zh-CN" sz="1600" dirty="0">
                <a:latin typeface="Times New Roman" panose="02020603050405020304" pitchFamily="18" charset="0"/>
                <a:cs typeface="Times New Roman" panose="02020603050405020304" pitchFamily="18" charset="0"/>
              </a:rPr>
              <a:t>, </a:t>
            </a:r>
            <a:r>
              <a:rPr lang="en-US" altLang="zh-CN" sz="1600" i="1" dirty="0">
                <a:latin typeface="Times New Roman" panose="02020603050405020304" pitchFamily="18" charset="0"/>
                <a:cs typeface="Times New Roman" panose="02020603050405020304" pitchFamily="18" charset="0"/>
              </a:rPr>
              <a:t>200</a:t>
            </a:r>
            <a:r>
              <a:rPr lang="en-US" altLang="zh-CN" sz="1600" dirty="0">
                <a:latin typeface="Times New Roman" panose="02020603050405020304" pitchFamily="18" charset="0"/>
                <a:cs typeface="Times New Roman" panose="02020603050405020304" pitchFamily="18" charset="0"/>
              </a:rPr>
              <a:t>.</a:t>
            </a:r>
          </a:p>
          <a:p>
            <a:r>
              <a:rPr lang="en-US" altLang="zh-CN" sz="1600" dirty="0">
                <a:latin typeface="Times New Roman" panose="02020603050405020304" pitchFamily="18" charset="0"/>
                <a:cs typeface="Times New Roman" panose="02020603050405020304" pitchFamily="18" charset="0"/>
              </a:rPr>
              <a:t>Chen, X., Fan, H., </a:t>
            </a:r>
            <a:r>
              <a:rPr lang="en-US" altLang="zh-CN" sz="1600" dirty="0" err="1">
                <a:latin typeface="Times New Roman" panose="02020603050405020304" pitchFamily="18" charset="0"/>
                <a:cs typeface="Times New Roman" panose="02020603050405020304" pitchFamily="18" charset="0"/>
              </a:rPr>
              <a:t>Girshick</a:t>
            </a:r>
            <a:r>
              <a:rPr lang="en-US" altLang="zh-CN" sz="1600" dirty="0">
                <a:latin typeface="Times New Roman" panose="02020603050405020304" pitchFamily="18" charset="0"/>
                <a:cs typeface="Times New Roman" panose="02020603050405020304" pitchFamily="18" charset="0"/>
              </a:rPr>
              <a:t>, R., &amp; He, K. (2020). Improved baselines with momentum contrastive learning. </a:t>
            </a:r>
            <a:r>
              <a:rPr lang="en-US" altLang="zh-CN" sz="1600" i="1" dirty="0" err="1">
                <a:latin typeface="Times New Roman" panose="02020603050405020304" pitchFamily="18" charset="0"/>
                <a:cs typeface="Times New Roman" panose="02020603050405020304" pitchFamily="18" charset="0"/>
              </a:rPr>
              <a:t>ArXiv</a:t>
            </a:r>
            <a:r>
              <a:rPr lang="en-US" altLang="zh-CN" sz="1600" dirty="0">
                <a:latin typeface="Times New Roman" panose="02020603050405020304" pitchFamily="18" charset="0"/>
                <a:cs typeface="Times New Roman" panose="02020603050405020304" pitchFamily="18" charset="0"/>
              </a:rPr>
              <a:t>, 1–3.</a:t>
            </a:r>
          </a:p>
          <a:p>
            <a:r>
              <a:rPr lang="en-US" altLang="zh-CN" sz="1600" dirty="0">
                <a:latin typeface="Times New Roman" panose="02020603050405020304" pitchFamily="18" charset="0"/>
                <a:cs typeface="Times New Roman" panose="02020603050405020304" pitchFamily="18" charset="0"/>
              </a:rPr>
              <a:t>Chen, T., </a:t>
            </a:r>
            <a:r>
              <a:rPr lang="en-US" altLang="zh-CN" sz="1600" dirty="0" err="1">
                <a:latin typeface="Times New Roman" panose="02020603050405020304" pitchFamily="18" charset="0"/>
                <a:cs typeface="Times New Roman" panose="02020603050405020304" pitchFamily="18" charset="0"/>
              </a:rPr>
              <a:t>Kornblith</a:t>
            </a:r>
            <a:r>
              <a:rPr lang="en-US" altLang="zh-CN" sz="1600" dirty="0">
                <a:latin typeface="Times New Roman" panose="02020603050405020304" pitchFamily="18" charset="0"/>
                <a:cs typeface="Times New Roman" panose="02020603050405020304" pitchFamily="18" charset="0"/>
              </a:rPr>
              <a:t>, S., </a:t>
            </a:r>
            <a:r>
              <a:rPr lang="en-US" altLang="zh-CN" sz="1600" dirty="0" err="1">
                <a:latin typeface="Times New Roman" panose="02020603050405020304" pitchFamily="18" charset="0"/>
                <a:cs typeface="Times New Roman" panose="02020603050405020304" pitchFamily="18" charset="0"/>
              </a:rPr>
              <a:t>Swersky</a:t>
            </a:r>
            <a:r>
              <a:rPr lang="en-US" altLang="zh-CN" sz="1600" dirty="0">
                <a:latin typeface="Times New Roman" panose="02020603050405020304" pitchFamily="18" charset="0"/>
                <a:cs typeface="Times New Roman" panose="02020603050405020304" pitchFamily="18" charset="0"/>
              </a:rPr>
              <a:t>, K., </a:t>
            </a:r>
            <a:r>
              <a:rPr lang="en-US" altLang="zh-CN" sz="1600" dirty="0" err="1">
                <a:latin typeface="Times New Roman" panose="02020603050405020304" pitchFamily="18" charset="0"/>
                <a:cs typeface="Times New Roman" panose="02020603050405020304" pitchFamily="18" charset="0"/>
              </a:rPr>
              <a:t>Norouzi</a:t>
            </a:r>
            <a:r>
              <a:rPr lang="en-US" altLang="zh-CN" sz="1600" dirty="0">
                <a:latin typeface="Times New Roman" panose="02020603050405020304" pitchFamily="18" charset="0"/>
                <a:cs typeface="Times New Roman" panose="02020603050405020304" pitchFamily="18" charset="0"/>
              </a:rPr>
              <a:t>, M., &amp; Hinton, G. (2020). Big Self-Supervised Models are Strong Semi-Supervised Learners. </a:t>
            </a:r>
            <a:r>
              <a:rPr lang="en-US" altLang="zh-CN" sz="1600" i="1" dirty="0" err="1">
                <a:latin typeface="Times New Roman" panose="02020603050405020304" pitchFamily="18" charset="0"/>
                <a:cs typeface="Times New Roman" panose="02020603050405020304" pitchFamily="18" charset="0"/>
              </a:rPr>
              <a:t>ArXiv</a:t>
            </a:r>
            <a:r>
              <a:rPr lang="en-US" altLang="zh-CN" sz="1600" dirty="0">
                <a:latin typeface="Times New Roman" panose="02020603050405020304" pitchFamily="18" charset="0"/>
                <a:cs typeface="Times New Roman" panose="02020603050405020304" pitchFamily="18" charset="0"/>
              </a:rPr>
              <a:t>, </a:t>
            </a:r>
            <a:r>
              <a:rPr lang="en-US" altLang="zh-CN" sz="1600" i="1" dirty="0" err="1">
                <a:latin typeface="Times New Roman" panose="02020603050405020304" pitchFamily="18" charset="0"/>
                <a:cs typeface="Times New Roman" panose="02020603050405020304" pitchFamily="18" charset="0"/>
              </a:rPr>
              <a:t>NeurIPS</a:t>
            </a:r>
            <a:r>
              <a:rPr lang="en-US" altLang="zh-CN" sz="1600" dirty="0">
                <a:latin typeface="Times New Roman" panose="02020603050405020304" pitchFamily="18" charset="0"/>
                <a:cs typeface="Times New Roman" panose="02020603050405020304" pitchFamily="18" charset="0"/>
              </a:rPr>
              <a:t>, 1–18.</a:t>
            </a:r>
          </a:p>
          <a:p>
            <a:r>
              <a:rPr lang="en-US" altLang="zh-CN" sz="1600" dirty="0">
                <a:latin typeface="Times New Roman" panose="02020603050405020304" pitchFamily="18" charset="0"/>
                <a:cs typeface="Times New Roman" panose="02020603050405020304" pitchFamily="18" charset="0"/>
              </a:rPr>
              <a:t>Le-</a:t>
            </a:r>
            <a:r>
              <a:rPr lang="en-US" altLang="zh-CN" sz="1600" dirty="0" err="1">
                <a:latin typeface="Times New Roman" panose="02020603050405020304" pitchFamily="18" charset="0"/>
                <a:cs typeface="Times New Roman" panose="02020603050405020304" pitchFamily="18" charset="0"/>
              </a:rPr>
              <a:t>Khac</a:t>
            </a:r>
            <a:r>
              <a:rPr lang="en-US" altLang="zh-CN" sz="1600" dirty="0">
                <a:latin typeface="Times New Roman" panose="02020603050405020304" pitchFamily="18" charset="0"/>
                <a:cs typeface="Times New Roman" panose="02020603050405020304" pitchFamily="18" charset="0"/>
              </a:rPr>
              <a:t>, P. H., Healy, G., &amp; Smeaton, A. F. (2020). Contrastive Representation Learning: A Framework and Review. </a:t>
            </a:r>
            <a:r>
              <a:rPr lang="en-US" altLang="zh-CN" sz="1600" i="1" dirty="0">
                <a:latin typeface="Times New Roman" panose="02020603050405020304" pitchFamily="18" charset="0"/>
                <a:cs typeface="Times New Roman" panose="02020603050405020304" pitchFamily="18" charset="0"/>
              </a:rPr>
              <a:t>IEEE Access</a:t>
            </a:r>
            <a:r>
              <a:rPr lang="en-US" altLang="zh-CN" sz="1600" dirty="0">
                <a:latin typeface="Times New Roman" panose="02020603050405020304" pitchFamily="18" charset="0"/>
                <a:cs typeface="Times New Roman" panose="02020603050405020304" pitchFamily="18" charset="0"/>
              </a:rPr>
              <a:t>, </a:t>
            </a:r>
            <a:r>
              <a:rPr lang="en-US" altLang="zh-CN" sz="1600" i="1" dirty="0">
                <a:latin typeface="Times New Roman" panose="02020603050405020304" pitchFamily="18" charset="0"/>
                <a:cs typeface="Times New Roman" panose="02020603050405020304" pitchFamily="18" charset="0"/>
              </a:rPr>
              <a:t>8</a:t>
            </a:r>
            <a:r>
              <a:rPr lang="en-US" altLang="zh-CN" sz="1600" dirty="0">
                <a:latin typeface="Times New Roman" panose="02020603050405020304" pitchFamily="18" charset="0"/>
                <a:cs typeface="Times New Roman" panose="02020603050405020304" pitchFamily="18" charset="0"/>
              </a:rPr>
              <a:t>, 193907–193934. https://doi.org/10.1109/ACCESS.2020.3031549</a:t>
            </a:r>
          </a:p>
          <a:p>
            <a:r>
              <a:rPr lang="en-US" altLang="zh-CN" sz="1600" dirty="0">
                <a:latin typeface="Times New Roman" panose="02020603050405020304" pitchFamily="18" charset="0"/>
                <a:cs typeface="Times New Roman" panose="02020603050405020304" pitchFamily="18" charset="0"/>
              </a:rPr>
              <a:t>Chen, X., &amp; He, K. (2020). </a:t>
            </a:r>
            <a:r>
              <a:rPr lang="en-US" altLang="zh-CN" sz="1600" i="1" dirty="0">
                <a:latin typeface="Times New Roman" panose="02020603050405020304" pitchFamily="18" charset="0"/>
                <a:cs typeface="Times New Roman" panose="02020603050405020304" pitchFamily="18" charset="0"/>
              </a:rPr>
              <a:t>Exploring Simple Siamese Representation Learning</a:t>
            </a:r>
            <a:r>
              <a:rPr lang="en-US" altLang="zh-CN" sz="1600" dirty="0">
                <a:latin typeface="Times New Roman" panose="02020603050405020304" pitchFamily="18" charset="0"/>
                <a:cs typeface="Times New Roman" panose="02020603050405020304" pitchFamily="18" charset="0"/>
              </a:rPr>
              <a:t>. </a:t>
            </a:r>
            <a:r>
              <a:rPr lang="en-US" altLang="zh-CN" sz="1600" i="1" dirty="0">
                <a:latin typeface="Times New Roman" panose="02020603050405020304" pitchFamily="18" charset="0"/>
                <a:cs typeface="Times New Roman" panose="02020603050405020304" pitchFamily="18" charset="0"/>
              </a:rPr>
              <a:t>Figure 1</a:t>
            </a:r>
            <a:r>
              <a:rPr lang="en-US" altLang="zh-CN" sz="1600" dirty="0">
                <a:latin typeface="Times New Roman" panose="02020603050405020304" pitchFamily="18" charset="0"/>
                <a:cs typeface="Times New Roman" panose="02020603050405020304" pitchFamily="18" charset="0"/>
              </a:rPr>
              <a:t>. http://arxiv.org/abs/2011.10566</a:t>
            </a:r>
          </a:p>
          <a:p>
            <a:r>
              <a:rPr lang="en-US" altLang="zh-CN" sz="1600" dirty="0">
                <a:latin typeface="Times New Roman" panose="02020603050405020304" pitchFamily="18" charset="0"/>
                <a:cs typeface="Times New Roman" panose="02020603050405020304" pitchFamily="18" charset="0"/>
              </a:rPr>
              <a:t>Chen, T., </a:t>
            </a:r>
            <a:r>
              <a:rPr lang="en-US" altLang="zh-CN" sz="1600" dirty="0" err="1">
                <a:latin typeface="Times New Roman" panose="02020603050405020304" pitchFamily="18" charset="0"/>
                <a:cs typeface="Times New Roman" panose="02020603050405020304" pitchFamily="18" charset="0"/>
              </a:rPr>
              <a:t>Kornblith</a:t>
            </a:r>
            <a:r>
              <a:rPr lang="en-US" altLang="zh-CN" sz="1600" dirty="0">
                <a:latin typeface="Times New Roman" panose="02020603050405020304" pitchFamily="18" charset="0"/>
                <a:cs typeface="Times New Roman" panose="02020603050405020304" pitchFamily="18" charset="0"/>
              </a:rPr>
              <a:t>, S., </a:t>
            </a:r>
            <a:r>
              <a:rPr lang="en-US" altLang="zh-CN" sz="1600" dirty="0" err="1">
                <a:latin typeface="Times New Roman" panose="02020603050405020304" pitchFamily="18" charset="0"/>
                <a:cs typeface="Times New Roman" panose="02020603050405020304" pitchFamily="18" charset="0"/>
              </a:rPr>
              <a:t>Norouzi</a:t>
            </a:r>
            <a:r>
              <a:rPr lang="en-US" altLang="zh-CN" sz="1600" dirty="0">
                <a:latin typeface="Times New Roman" panose="02020603050405020304" pitchFamily="18" charset="0"/>
                <a:cs typeface="Times New Roman" panose="02020603050405020304" pitchFamily="18" charset="0"/>
              </a:rPr>
              <a:t>, M., &amp; Hinton, G. (2020). A simple framework for contrastive learning of visual representations. </a:t>
            </a:r>
            <a:r>
              <a:rPr lang="en-US" altLang="zh-CN" sz="1600" i="1" dirty="0" err="1">
                <a:latin typeface="Times New Roman" panose="02020603050405020304" pitchFamily="18" charset="0"/>
                <a:cs typeface="Times New Roman" panose="02020603050405020304" pitchFamily="18" charset="0"/>
              </a:rPr>
              <a:t>ArXiv</a:t>
            </a:r>
            <a:r>
              <a:rPr lang="en-US" altLang="zh-CN" sz="1600" dirty="0">
                <a:latin typeface="Times New Roman" panose="02020603050405020304" pitchFamily="18" charset="0"/>
                <a:cs typeface="Times New Roman" panose="02020603050405020304" pitchFamily="18" charset="0"/>
              </a:rPr>
              <a:t>, </a:t>
            </a:r>
            <a:r>
              <a:rPr lang="en-US" altLang="zh-CN" sz="1600" i="1" dirty="0">
                <a:latin typeface="Times New Roman" panose="02020603050405020304" pitchFamily="18" charset="0"/>
                <a:cs typeface="Times New Roman" panose="02020603050405020304" pitchFamily="18" charset="0"/>
              </a:rPr>
              <a:t>Figure 1</a:t>
            </a:r>
            <a:r>
              <a:rPr lang="en-US" altLang="zh-CN" sz="1600" dirty="0">
                <a:latin typeface="Times New Roman" panose="02020603050405020304" pitchFamily="18" charset="0"/>
                <a:cs typeface="Times New Roman" panose="02020603050405020304" pitchFamily="18" charset="0"/>
              </a:rPr>
              <a:t>.</a:t>
            </a:r>
          </a:p>
          <a:p>
            <a:r>
              <a:rPr lang="en-US" altLang="zh-CN" sz="1600" b="1" i="1" dirty="0">
                <a:latin typeface="Times New Roman" panose="02020603050405020304" pitchFamily="18" charset="0"/>
                <a:cs typeface="Times New Roman" panose="02020603050405020304" pitchFamily="18" charset="0"/>
                <a:hlinkClick r:id="rId2"/>
              </a:rPr>
              <a:t>https://untitled-ai.github.io/understanding-self-supervised-contrastive-learning.html</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hlinkClick r:id="rId3"/>
              </a:rPr>
              <a:t>https://mp.weixin.qq.com/s/6qqFAQBaOFuXtaeRSmQgsQ</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hlinkClick r:id="rId4"/>
              </a:rPr>
              <a:t>https://mp.weixin.qq.com/s/-Vtl_8nND7WCPLdL5bNlMw</a:t>
            </a:r>
            <a:endParaRPr lang="en-US" altLang="zh-CN" sz="1600" dirty="0">
              <a:latin typeface="Times New Roman" panose="02020603050405020304" pitchFamily="18" charset="0"/>
              <a:cs typeface="Times New Roman" panose="02020603050405020304" pitchFamily="18" charset="0"/>
            </a:endParaRPr>
          </a:p>
          <a:p>
            <a:endParaRPr lang="zh-CN"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447661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2450</TotalTime>
  <Words>1634</Words>
  <Application>Microsoft Office PowerPoint</Application>
  <PresentationFormat>宽屏</PresentationFormat>
  <Paragraphs>152</Paragraphs>
  <Slides>19</Slides>
  <Notes>14</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19</vt:i4>
      </vt:variant>
    </vt:vector>
  </HeadingPairs>
  <TitlesOfParts>
    <vt:vector size="24" baseType="lpstr">
      <vt:lpstr>等线</vt:lpstr>
      <vt:lpstr>等线 Light</vt:lpstr>
      <vt:lpstr>Arial</vt:lpstr>
      <vt:lpstr>Times New Roman</vt:lpstr>
      <vt:lpstr>Office 主题​​</vt:lpstr>
      <vt:lpstr>Exploring Simple Siamese Representation Learning</vt:lpstr>
      <vt:lpstr>Outline</vt:lpstr>
      <vt:lpstr>About contrastive learning, what and why?</vt:lpstr>
      <vt:lpstr>About contrastive learning, what and why?</vt:lpstr>
      <vt:lpstr>Related work</vt:lpstr>
      <vt:lpstr>Related work</vt:lpstr>
      <vt:lpstr>Related work</vt:lpstr>
      <vt:lpstr>Related work</vt:lpstr>
      <vt:lpstr>Related work</vt:lpstr>
      <vt:lpstr>Motivation</vt:lpstr>
      <vt:lpstr>This paper: SimSiam</vt:lpstr>
      <vt:lpstr>What matters? </vt:lpstr>
      <vt:lpstr>What matters? </vt:lpstr>
      <vt:lpstr>Experiments</vt:lpstr>
      <vt:lpstr>Experiments</vt:lpstr>
      <vt:lpstr>Experiments</vt:lpstr>
      <vt:lpstr>Comparison on siamese architectures</vt:lpstr>
      <vt:lpstr>Analysis &amp; Why this paper</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Feng Ruoyu</dc:creator>
  <cp:lastModifiedBy>金 鑫</cp:lastModifiedBy>
  <cp:revision>348</cp:revision>
  <dcterms:created xsi:type="dcterms:W3CDTF">2020-10-18T11:50:45Z</dcterms:created>
  <dcterms:modified xsi:type="dcterms:W3CDTF">2020-12-14T14:07:20Z</dcterms:modified>
</cp:coreProperties>
</file>